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5"/>
  </p:notesMasterIdLst>
  <p:sldIdLst>
    <p:sldId id="256" r:id="rId2"/>
    <p:sldId id="258" r:id="rId3"/>
    <p:sldId id="259" r:id="rId4"/>
    <p:sldId id="357" r:id="rId5"/>
    <p:sldId id="261" r:id="rId6"/>
    <p:sldId id="297" r:id="rId7"/>
    <p:sldId id="35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44" r:id="rId32"/>
    <p:sldId id="321" r:id="rId33"/>
    <p:sldId id="335" r:id="rId34"/>
    <p:sldId id="322" r:id="rId35"/>
    <p:sldId id="345" r:id="rId36"/>
    <p:sldId id="323" r:id="rId37"/>
    <p:sldId id="337" r:id="rId38"/>
    <p:sldId id="324" r:id="rId39"/>
    <p:sldId id="338" r:id="rId40"/>
    <p:sldId id="325" r:id="rId41"/>
    <p:sldId id="346" r:id="rId42"/>
    <p:sldId id="326" r:id="rId43"/>
    <p:sldId id="351" r:id="rId44"/>
    <p:sldId id="327" r:id="rId45"/>
    <p:sldId id="347" r:id="rId46"/>
    <p:sldId id="328" r:id="rId47"/>
    <p:sldId id="339" r:id="rId48"/>
    <p:sldId id="329" r:id="rId49"/>
    <p:sldId id="340" r:id="rId50"/>
    <p:sldId id="330" r:id="rId51"/>
    <p:sldId id="348" r:id="rId52"/>
    <p:sldId id="331" r:id="rId53"/>
    <p:sldId id="349" r:id="rId54"/>
    <p:sldId id="332" r:id="rId55"/>
    <p:sldId id="341" r:id="rId56"/>
    <p:sldId id="333" r:id="rId57"/>
    <p:sldId id="350" r:id="rId58"/>
    <p:sldId id="334" r:id="rId59"/>
    <p:sldId id="342" r:id="rId60"/>
    <p:sldId id="352" r:id="rId61"/>
    <p:sldId id="353" r:id="rId62"/>
    <p:sldId id="354" r:id="rId63"/>
    <p:sldId id="355" r:id="rId64"/>
    <p:sldId id="358" r:id="rId65"/>
    <p:sldId id="359" r:id="rId66"/>
    <p:sldId id="399" r:id="rId67"/>
    <p:sldId id="360" r:id="rId68"/>
    <p:sldId id="362" r:id="rId69"/>
    <p:sldId id="363" r:id="rId70"/>
    <p:sldId id="364" r:id="rId71"/>
    <p:sldId id="365" r:id="rId72"/>
    <p:sldId id="366" r:id="rId73"/>
    <p:sldId id="367" r:id="rId74"/>
    <p:sldId id="368" r:id="rId75"/>
    <p:sldId id="369" r:id="rId76"/>
    <p:sldId id="370" r:id="rId77"/>
    <p:sldId id="371" r:id="rId78"/>
    <p:sldId id="372" r:id="rId79"/>
    <p:sldId id="373" r:id="rId80"/>
    <p:sldId id="374" r:id="rId81"/>
    <p:sldId id="375" r:id="rId82"/>
    <p:sldId id="378" r:id="rId83"/>
    <p:sldId id="379" r:id="rId84"/>
    <p:sldId id="380" r:id="rId85"/>
    <p:sldId id="381" r:id="rId86"/>
    <p:sldId id="382" r:id="rId87"/>
    <p:sldId id="383" r:id="rId88"/>
    <p:sldId id="384" r:id="rId89"/>
    <p:sldId id="385" r:id="rId90"/>
    <p:sldId id="386" r:id="rId91"/>
    <p:sldId id="387" r:id="rId92"/>
    <p:sldId id="388" r:id="rId93"/>
    <p:sldId id="389" r:id="rId94"/>
    <p:sldId id="390" r:id="rId95"/>
    <p:sldId id="391" r:id="rId96"/>
    <p:sldId id="392" r:id="rId97"/>
    <p:sldId id="393" r:id="rId98"/>
    <p:sldId id="394" r:id="rId99"/>
    <p:sldId id="395" r:id="rId100"/>
    <p:sldId id="396" r:id="rId101"/>
    <p:sldId id="397" r:id="rId102"/>
    <p:sldId id="398" r:id="rId103"/>
    <p:sldId id="400" r:id="rId104"/>
  </p:sldIdLst>
  <p:sldSz cx="9144000" cy="5143500" type="screen16x9"/>
  <p:notesSz cx="6858000" cy="9144000"/>
  <p:embeddedFontLst>
    <p:embeddedFont>
      <p:font typeface="Anybody" panose="020B0604020202020204" charset="0"/>
      <p:regular r:id="rId106"/>
      <p:bold r:id="rId107"/>
      <p:italic r:id="rId108"/>
      <p:boldItalic r:id="rId10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959D03-E936-41F9-A3E5-71B3CAF5F963}">
  <a:tblStyle styleId="{07959D03-E936-41F9-A3E5-71B3CAF5F9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240251-84C1-495B-917D-E0B5F463C3A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1847" autoAdjust="0"/>
  </p:normalViewPr>
  <p:slideViewPr>
    <p:cSldViewPr snapToGrid="0">
      <p:cViewPr>
        <p:scale>
          <a:sx n="102" d="100"/>
          <a:sy n="102" d="100"/>
        </p:scale>
        <p:origin x="936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font" Target="fonts/font2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4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78bb9d625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78bb9d625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D71AF559-9BDE-88DA-2B2B-14C88AB4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2764F713-AFD8-8220-E486-DAE5F04A4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7EFEE542-C06D-4F30-97A4-D76F5ED1F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08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2E1C486A-CD0E-FC7C-BADE-D77F41B1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2D88456E-2456-B164-E53E-C8B374DEA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9D14E074-C7CE-5EF4-9D99-E0DE24F81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905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BE1C67C-EC5E-F834-0C7D-311DDA47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4FC3228-5F3D-D8D5-2715-C4B3FE8D8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F232B8DB-A1AD-C1E9-4FAD-A9F04B7EA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569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C1967BF-B54D-E328-56D5-FF390C6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128D4C71-AA14-9AD1-C0C5-2CD7B6C4B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F161994D-6A18-4E2C-3B2B-86E83BD33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436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3DF405B-1079-6D63-624C-BE04818C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DAED630B-CC1B-C256-3225-FE97F99FC2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1482F6F-96A8-39C4-7948-430F028B1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325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E61A7EA-AF51-6644-EFA3-815B3105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383E816-B53A-3622-6B1D-03B3EF4FF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EA1E627-2DBA-D2FD-0E82-D3EC431B1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02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A898396-487C-17EA-7652-8BC20863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41F8B735-8D0B-DDC4-F109-75FB38E8E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BCAFEDE2-F8B6-70C8-754C-9C94B3326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461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9F4D3B6-551C-50F4-98A1-4D3195A4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3B1545BE-7201-24F8-4C77-64530151B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E9342223-083A-A37A-0C9C-CEE570789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729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131BD4A-62B9-D607-E48A-76D86CBB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AD98D6D0-AA14-725C-28A5-BE541739BF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97F20B8-A792-00D6-0CF5-E6F342DFA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094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A03A4F2-7998-724A-89D5-11BDE1E4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40D2CF0F-55B9-E716-4A15-DD1D39F24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A09A707-EA75-F389-AAD9-3D6A996508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8939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ACA6CD29-C8C5-BAFA-E6C3-240D4E33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42F25714-9970-C16D-8CB5-4F103D9E9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3215C820-F7C6-6CAC-F029-8D507D56B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075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E88997D-3E47-4698-FB78-8CBCD83B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EF410F8-6D3F-05C9-BF8E-D325D0B6D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17FE054-6F8C-E88C-B20D-A10ACC267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019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1D38F60-0EFA-5AD3-6A9C-DFA5C8F2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BF1CB564-FEF2-3BA7-81AE-38E2798E2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B4BE931E-690E-1C52-D2FD-601A3CDF3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5316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92A5E334-0B8E-106C-9D01-165BCF0C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A2386B9E-3F82-D906-DF3F-625D0ED871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8948B845-CD90-1E3F-8E84-E7A7C8983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671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BBC393B-5687-BD37-1816-7C4893CC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A6A1434-FA62-221F-5ABE-EFC49D9C1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746993B3-E59D-D235-2DFF-36BA1ED70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219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ACD2CD6-C572-3C9E-301E-6143A496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13819D5-D1FB-8312-1082-43684EF0B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BF26DBAB-5586-44DB-7469-778846EC9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377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0F683584-34CD-D260-1E87-B6F76FD4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399F95F-C9E0-8BFF-573C-F5D2F6F19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EA6A2FE-D7AB-BC65-D807-8775BBEC6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678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E99A8DF-FF6D-A142-4FC1-5A7DA3D2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72E31CF5-E738-B8EB-4670-C70775433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BBAB3D6-9A16-2064-78D7-1EA4ABB8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179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AF2F231-95A8-B93E-0E87-9E1C2CE0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DF2E2F0-622C-BB64-FCBC-35A69204F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C9DE218C-DBA3-BC8F-5D62-BF469A27D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39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A6E98B5-E2E4-9D6C-582E-A56D4AFE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59DC217-0991-2C4A-F056-5BFB4232D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E014B9B-9B39-4BDA-CD70-63E69ACCA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0825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7B5ED7D-AD9B-27F6-C950-2A60FB47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74DB302-A8A8-C356-2137-76E97BAC0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54F42690-6DBB-E072-17F3-48D6885F4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367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2CA97ED-8124-2746-8272-1B0F2F19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32307DF6-A5FD-F40E-6CB6-18C731DAE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B2E03B57-8F07-4504-BC37-3A6DA4D3E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866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E6B0CF0-0CD6-A5FE-EC2D-5F61BB70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AE948F5-A2F0-91EB-4FC7-D41551A62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1F0993C7-0DF8-7BEA-D822-9CDADAFE0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771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12B0BD4B-96D8-C77F-C087-7AAAC967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010EA69-60DB-C6C2-604F-C2852EB5B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A1902E6A-E8AF-45F6-0D0D-43CC087E2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244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EDFF8E21-1F08-5DA1-39C4-A9E44A1B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486B830B-D204-7296-23D8-6577B0EF6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35F220B0-34F8-5C89-B859-3D34E43B5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828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DAE4B6D-C2E0-7650-F89E-3F544E73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1C87156-7F61-5D9B-15DF-77A1FDE2A6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7CD1F9B-D241-44D0-36D5-DED9DD98F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8676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B31BA9BC-A8F8-9945-AA22-8391D5DC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C5F7624E-BA1C-A106-EA10-5E92DFD76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FBAC8934-C304-C01D-00E5-2C9ED1690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101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01CE5D7-34D5-D5BA-ADE2-B31E535C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319EAEC-FA92-2D9D-BE74-C19C39E12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90C683D-B106-D315-C05F-6906DD183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3731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9CA86CA2-A90A-D528-7D03-28E0FD18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6EA57204-E2A4-22BB-4E9A-3647EB9A3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FE560DB1-BB59-F27B-4A92-22CAB1640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9702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7AAA12C-7374-1B23-BA62-AA8B8446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CD66C2C-3A2F-EDA9-6A36-B6B6FF5A0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F64D632-B48A-FA0E-C036-48EE8FA2C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9281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FDC8959F-98E3-5AC0-3000-1C551D9A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45913169-3EF1-D3D2-4862-07C415A3B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37AED7E6-BE23-CA72-EC90-B477C6626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7655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6F8BFC6-1A23-4C30-0F56-A9CEB87A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FE25B0D7-6261-9A08-CFE1-75EF7CD1E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3AD379A8-C296-540E-591E-66C018BF90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3556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60600DB3-0BAA-E2F0-8A6C-F9B8816D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32433E3A-7E28-B202-DF3A-54FC8A342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712D4233-1699-5585-F5DA-538D17C5C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0440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04D1E71-5162-1902-4119-E6F0A4CF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683329D-B606-6CFB-D453-AC5BCC83C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C35A12C6-43FE-7C84-2DFC-7EB181494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451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B5CAAE3B-7063-0EDC-74A7-676564D1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B4D2CA75-0122-FE7F-4A7D-8D8980AB9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E643AAA8-D025-9995-DC1E-728ED1F34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8091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8B21A10-8DDD-6D9F-1417-9E7DC766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D0626196-83F7-778C-7FF0-6EF660120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DEEB30E-5E6D-8B30-6DCE-54A7163CD6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1480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BFCB954A-1667-B985-15E5-6E4EB06C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4A69373B-530D-2106-A7FC-265CB5F43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555BC08C-A8B1-34CA-FCD8-AAB8F166C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18418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CFCF0B17-7CB7-C1DB-DDFD-BBEF412C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907E3F98-7A6C-91EB-F121-73646F7A40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BF3E733-749B-563A-B77E-A1F82E908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7799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CAB94AEF-038D-9A00-3BBC-7E6299D29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FDE09D57-FA0E-38A7-64D3-6226A3A5F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8C99A19E-9F35-92EC-F4BE-27F30E2EC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50407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66EA26A-DEE0-58A4-0D83-DC1B2662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10C37BC8-FC83-66EE-FE6D-4F28179CB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D3100CF-27A9-19B4-F4AC-0CC0AC54C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3682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ABE669DA-31C7-6A5F-52EF-97200E1E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B4D7D520-0EDA-24CB-886A-8B6E7A98F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61E022FA-515C-927F-EBDF-999F35864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3186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84B1D5A-60A3-53AE-28FF-987508E0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3798DBBE-F691-180D-5545-516F4818F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194F162E-FBBB-C08F-DA07-EEE4A85C0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3427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697C6BFA-3F86-21E5-9E27-13985BF9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20997796-5539-E6FD-4A0F-3090165E7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B378BCC4-63FD-1DCA-E1A2-F157012B61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4164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09133DD-DE53-F93B-7674-1426013E4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23B51E8-098A-7922-3CF7-3F11A6211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E283C14A-1154-F065-41D7-DF561D904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2407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75A4DCDE-32EB-D61F-1026-319124F9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AE4FC3B3-3092-66BA-0203-C9062B0F8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19F7FC62-DD61-CB4C-F7C3-3D461BC9F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5281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850DB72-09E5-6099-0A7E-2E1FF76D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43F1DEE5-0894-F729-0914-F3F525D19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A0841B2-8D2D-ADE3-FCD5-940CB6171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3941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0F713FC5-7036-9D55-D4EF-FD37B8AA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F19A7470-8602-BF0B-2B83-D476A2D8E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F56109FA-6FF0-AE67-0957-3E863CE92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938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0D70EF12-7A98-E9E6-4B41-912AE73D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B329616-C05E-28A7-62E4-5EB164677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58A09449-285A-C6FD-86DF-972A3F223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9291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69FB4C79-B090-99FE-3CD3-24A6DCE8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786C4055-1CEF-9806-20AC-B1B7FBAAF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E39AF4D4-44D6-7F88-30BB-288F835CE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3160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66C4B3B-4067-56B7-E6D5-AF484D31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1B829EE-BB75-4CD1-B090-CF46E1519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EEFD92D-54E3-3442-D837-DCC693B4E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03528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E96F4328-5A63-9A96-0984-EE76CBCD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9B7A00E5-6B51-3E49-48E2-BBC7F0294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F7101C85-A22D-9EEA-DBA9-27E5DA1F1C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7998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9C473D98-FDD9-E026-7320-B4731CF9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DAC6DDCD-D563-0173-D82C-8FEFC7469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20F6AB6-950E-6F05-07B8-03DBA3109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3768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A257E4C9-717E-87F8-7F11-0B422C3D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54BBA70A-FE08-94F2-B681-8E03307405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8997E514-8AE5-4C3E-EC99-15F565C7A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7961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CBB9BFB-DED5-5B97-3A61-2C7397D4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A9AC8CF-7B3B-91DF-142C-FC1BDFB0B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A8465BB1-9F76-D75C-BCC9-C3FBD675F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3921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15FD2922-B18D-EB6D-E54C-5C2EABC9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b02b2657_0_0:notes">
            <a:extLst>
              <a:ext uri="{FF2B5EF4-FFF2-40B4-BE49-F238E27FC236}">
                <a16:creationId xmlns:a16="http://schemas.microsoft.com/office/drawing/2014/main" id="{F0050020-D158-08BB-BC0A-9CCC093D4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b02b2657_0_0:notes">
            <a:extLst>
              <a:ext uri="{FF2B5EF4-FFF2-40B4-BE49-F238E27FC236}">
                <a16:creationId xmlns:a16="http://schemas.microsoft.com/office/drawing/2014/main" id="{0C17B7E9-2CF9-399E-4FD5-35897E600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5364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7155175B-6D5D-3FDA-9B3C-F5068DCD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F7E2E567-AD03-BAE5-3380-AD7F12DA8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3D736C97-BEAA-E879-EAD5-E32A2F21E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63267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5AC742C-582D-ACA6-3788-DA04A31C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95866679-EBC5-AC23-8C48-7433AB3EB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B1C25E04-1E8E-B846-5245-7BB2E55A3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7912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A4D94596-7372-605E-1604-67F4ED7C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6CD4AAC-DE4C-08E9-30C3-FE3EC985B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7E94723B-E444-408F-17C6-99B98EEA2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5809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58F1183-2428-CD3B-758F-7822A5F6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625EC68-E9C1-C7A1-CE63-337F46110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6179BCF-D48C-E040-DAE8-3FB3F7C7E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9043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54BC791F-1C33-4D4E-0275-F51BB0B7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135E8DE4-D16F-78C0-C92F-B9F414D28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C489DE22-C608-5FF2-13BA-C52329143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9430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DA04B68B-98CB-280F-F215-5FBAEF0F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4B4F740E-78E3-D015-6775-D10177B37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6E76B99B-BCF1-762D-4F50-4648F4ACF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6009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A5B5C0E-BF4E-89A0-4512-F7DDA252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CAE1005-9A34-A4B9-37ED-E4980FE60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587B2784-9814-04FB-B330-CC96071E0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0271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9A1D880B-334F-5691-A024-739A7BBB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4EBA3DA-6B03-D59E-D019-8BFA12C81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6DAF23F0-59A3-4F13-1C8D-8F0461BFD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035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A15C749B-A16A-3AA9-176E-FB5AD30D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EA6C9ADD-7208-B8C8-C922-FADCFEB7E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ED3A010F-BF3B-C3B3-5EBC-2D72D7639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39857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D7C2E82A-8D8B-5DC1-4A2D-68FBE224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E05E5516-0EEA-4875-0A33-F3C4769A1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FF5E6C8-D91D-233B-761D-C39F77DAF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22879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E83C759-9618-A780-0D61-F003BAFD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7C76E5FB-1B15-3B13-6627-E8DF53603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1BE6C4D1-6DEF-11D0-0808-F1F0F2CAD6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92474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5F75E3EC-A077-E823-7F00-2DB5B4DA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CC8C0F7C-4DFC-2E80-D4E9-D0A517EBC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BDC0940C-67B4-4AC6-0D64-BA80DDE0B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02923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79B3D160-4000-07AB-B4F0-1BC95F58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B80DAF8E-9BB0-D4C9-6BC4-DDBE1C93D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59E56BCD-C129-2831-F04B-23BE5DB40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98023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97BD086-770C-5FFE-6D6A-8E2880BF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EE8B09A-3841-9003-6229-497EA3F85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5E8806A2-E860-540F-5AD5-AD5F13CCD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7995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EEB14CC-2E58-13AF-9A2A-15C48A12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4A16B3A-C4BC-3711-78A0-742D37017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E8E6FA5B-1E8E-5860-12DA-D4372F200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6421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C46AF49F-40C8-2769-D376-84B8C2D6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1709BA4F-F0E9-B616-801D-523D1FC38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E2A06985-928E-9A87-5408-F14B9D0B7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0864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F38E842-6F07-7737-1099-B0FC15C2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A9A95FCD-B53F-543F-88AC-B009D3F0B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1E260B3E-957A-4530-1098-C0D890EA8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52329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0936D37A-AA99-F0FB-FB3F-0C7E0533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8968AFC-13B3-19D7-F21D-DB62F9FD7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6A919240-CB9D-5281-E79E-4D7457EA8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663120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25D5B46B-BA4E-97AD-8B6B-7235A83A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662DEE26-E364-BA2A-FBA4-ED9D7D689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B193F758-2F8B-A27E-0EF5-D597324C7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7732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E8324DA-C4C7-82F3-CE12-485A81F1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24C1A489-A9FD-9701-96E4-66096D427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44FB6CF-75C5-96AF-5E69-5B6657510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86575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96FE5E1-35D5-E0DE-3A10-5FD17D21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D57348B7-3C43-4132-1959-C4084631B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7519C32-1900-D8F5-0910-CFFDDD0D4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5414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BDBD8028-A7E5-F186-59DA-FE09F5EC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CF5C170F-1931-D808-A053-08C66C0FD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D1B540EE-3311-9471-9467-8A4B51E639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316933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6C67EBD-7EE1-9941-C404-8F57CC14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D51B355-2F4E-4F20-47FC-829F7DB07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9F01DF5-95D4-436D-F269-E85E10B23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91155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88E4F4BA-B783-F7B5-FD14-838B8BEA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1F903E23-AEA7-E0E3-E34C-73B354A06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7940901F-ABD2-E0D4-8FB9-EBB0C659C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05778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E75E2B9-7066-303A-C4C0-69A03961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FA349802-6205-9A9E-6217-1CDF894F4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9A3EF46D-547D-B06A-EBAC-452FE9DE31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8934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468C1852-FAFC-096A-13E3-8E336C34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0778B8F4-D1EE-49B3-183E-B6A971B48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6D26964-30AE-9394-33D5-25A65F7F6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720699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96104CE-B3CB-7EDE-FD7B-6D402455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B6D8A1A5-7B33-3317-8285-B77AE5858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271ABBC-2A49-0932-C55C-E9330AA9E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26975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665E8EA8-DEA6-E697-63AA-4F9007AA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A4B913F1-19BB-8941-B399-1138E2C80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06DBDB67-A58E-4C54-FB7F-DB22BEC22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52487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B2D4238A-476F-7CB7-8A42-F45571C6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82E18FC-4AA8-1DBF-BD46-9D40E237C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23C0E01-71D4-61E0-5FB5-E4302ED3B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88033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DCF38CC-6710-30F2-85C5-8E88ADB3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6508A3F-9047-1E52-D656-58B27114B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649A8EC-3103-4420-EFFF-034592D62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69513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A2E09982-5EF5-4E4D-FD0B-8FE6EA5B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8909EC7-FAB1-8BF8-69E1-801325E0D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FD504DA-5712-269D-F6EA-088EAF93C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3327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C6A868E-69D8-DC7A-73CA-614E0184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D41EE786-0308-194B-3853-91CDDCAF3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97D4FD4-939D-B5A8-0FC2-3AC15A7CA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22244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8559A81-A47C-7DD9-44E3-F96AB1F21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59AE5AF-6E16-067D-DE5F-98AA96BBD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B252BAD-604B-B1A8-EDB8-3ACD7C0F8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25981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03BA55D-17B7-EF10-B5FD-4AABF381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138C1BB1-32D3-64E1-0C2A-7E3327E961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8B00917C-B9DD-2C78-A6A8-1905021B0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65055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07E8C38C-4246-0D17-EB59-483D4CF5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971052BD-A78A-33A5-C097-34DF2CDAF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16BFA613-1555-CA98-6B4A-D7ACC5CFB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2349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77417813-A5AF-0A9E-55E9-FE331970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37F311EC-CFAB-EF7F-5ACF-20FE74F0E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EA4B2C3D-CA80-E874-BB34-6DB85F9D2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18209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E2CC301B-BD11-11BE-F363-E0881423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C2492E32-DFD7-0A34-CCC7-B864BC94B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20669590-F2AF-0FBD-60DC-AC3CF7BE5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08741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256CD35C-A0B0-2D72-9285-B66D62F5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150B5477-E46B-5244-EF93-FCC051F5E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37AFD35-22F6-8D62-B9CB-33049D58F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55371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324A1D01-1400-7CFD-C2DB-1EE7AF36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3350DF8C-052A-92F4-C9B3-D1EEB4A29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DA66E358-988B-BD67-CECA-75ECA841B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09773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>
          <a:extLst>
            <a:ext uri="{FF2B5EF4-FFF2-40B4-BE49-F238E27FC236}">
              <a16:creationId xmlns:a16="http://schemas.microsoft.com/office/drawing/2014/main" id="{C1CDB663-7C80-F571-F4F0-7CAEF592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77147F13-9162-4C7A-9E3E-3892BFC88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4dda1946d_6_308:notes">
            <a:extLst>
              <a:ext uri="{FF2B5EF4-FFF2-40B4-BE49-F238E27FC236}">
                <a16:creationId xmlns:a16="http://schemas.microsoft.com/office/drawing/2014/main" id="{7CFAF938-79F2-C6DE-76B6-42D58EFB9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84190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AF922D8A-F537-89BB-7FFE-EF933699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61D07D47-8637-096B-4C6A-EF7531B7F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C269FE8B-5733-E3EF-2125-B6CBE0F0E0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16355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F6601B9-384C-3FCB-D7E2-B5194605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8B24009B-8023-4F14-493B-634C4E4D3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4A89408D-23B9-A00B-D366-DD8BAC686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26600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89A62028-26CC-357D-59F3-53D2B3A4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54dda1946d_6_332:notes">
            <a:extLst>
              <a:ext uri="{FF2B5EF4-FFF2-40B4-BE49-F238E27FC236}">
                <a16:creationId xmlns:a16="http://schemas.microsoft.com/office/drawing/2014/main" id="{5CC7559D-6583-410A-E136-E18D9779B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54dda1946d_6_332:notes">
            <a:extLst>
              <a:ext uri="{FF2B5EF4-FFF2-40B4-BE49-F238E27FC236}">
                <a16:creationId xmlns:a16="http://schemas.microsoft.com/office/drawing/2014/main" id="{7BB5744D-502F-A113-5C34-EEA353B57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62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94225" y="1566938"/>
            <a:ext cx="4528800" cy="13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94225" y="3148763"/>
            <a:ext cx="4528800" cy="427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" name="Google Shape;17;p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5108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37" name="Google Shape;37;p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" name="Google Shape;40;p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" name="Google Shape;42;p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3" name="Google Shape;43;p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" name="Google Shape;46;p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4163570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713225" y="2272500"/>
            <a:ext cx="2694900" cy="16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3"/>
          </p:nvPr>
        </p:nvSpPr>
        <p:spPr>
          <a:xfrm>
            <a:off x="713225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4"/>
          </p:nvPr>
        </p:nvSpPr>
        <p:spPr>
          <a:xfrm>
            <a:off x="4163566" y="1791350"/>
            <a:ext cx="26949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86" name="Google Shape;86;p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9" name="Google Shape;89;p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92" name="Google Shape;92;p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5" name="Google Shape;95;p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96" name="Google Shape;96;p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" name="Google Shape;97;p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98" name="Google Shape;98;p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915376" y="4167393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5" name="Google Shape;155;p8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56" name="Google Shape;156;p8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57" name="Google Shape;157;p8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8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8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0" name="Google Shape;160;p8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61" name="Google Shape;161;p8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2" name="Google Shape;162;p8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6" name="Google Shape;166;p8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67" name="Google Shape;167;p8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8" name="Google Shape;168;p8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8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8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8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 rot="-4080314">
            <a:off x="-2065524" y="1779314"/>
            <a:ext cx="4291871" cy="269937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180" name="Google Shape;180;p9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181" name="Google Shape;181;p9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9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9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4" name="Google Shape;184;p9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9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187" name="Google Shape;187;p9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9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9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" name="Google Shape;190;p9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9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193" name="Google Shape;193;p9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9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9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9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9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 rot="606218">
            <a:off x="316691" y="4397046"/>
            <a:ext cx="3362038" cy="2114466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>
            <a:spLocks noGrp="1"/>
          </p:cNvSpPr>
          <p:nvPr>
            <p:ph type="title" idx="3" hasCustomPrompt="1"/>
          </p:nvPr>
        </p:nvSpPr>
        <p:spPr>
          <a:xfrm>
            <a:off x="3419275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>
            <a:spLocks noGrp="1"/>
          </p:cNvSpPr>
          <p:nvPr>
            <p:ph type="title" idx="5" hasCustomPrompt="1"/>
          </p:nvPr>
        </p:nvSpPr>
        <p:spPr>
          <a:xfrm>
            <a:off x="6118550" y="16332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1"/>
          </p:nvPr>
        </p:nvSpPr>
        <p:spPr>
          <a:xfrm>
            <a:off x="720000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subTitle" idx="7"/>
          </p:nvPr>
        </p:nvSpPr>
        <p:spPr>
          <a:xfrm>
            <a:off x="3419275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8"/>
          </p:nvPr>
        </p:nvSpPr>
        <p:spPr>
          <a:xfrm>
            <a:off x="6118550" y="20648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subTitle" idx="9"/>
          </p:nvPr>
        </p:nvSpPr>
        <p:spPr>
          <a:xfrm>
            <a:off x="72000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13"/>
          </p:nvPr>
        </p:nvSpPr>
        <p:spPr>
          <a:xfrm>
            <a:off x="34192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14"/>
          </p:nvPr>
        </p:nvSpPr>
        <p:spPr>
          <a:xfrm>
            <a:off x="61185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 idx="15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0" name="Google Shape;240;p13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41" name="Google Shape;241;p13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42" name="Google Shape;242;p13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13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13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5" name="Google Shape;245;p13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46" name="Google Shape;246;p13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" name="Google Shape;247;p13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48" name="Google Shape;248;p13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13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13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1" name="Google Shape;251;p13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52" name="Google Shape;252;p13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253;p13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254" name="Google Shape;254;p13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13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13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13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13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5"/>
          <p:cNvSpPr/>
          <p:nvPr/>
        </p:nvSpPr>
        <p:spPr>
          <a:xfrm rot="1866243">
            <a:off x="-1730113" y="4329296"/>
            <a:ext cx="3361828" cy="2114481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15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287" name="Google Shape;287;p15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288" name="Google Shape;288;p15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15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15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1" name="Google Shape;291;p15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292" name="Google Shape;292;p15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15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294" name="Google Shape;294;p15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15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15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7" name="Google Shape;297;p15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298" name="Google Shape;298;p15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" name="Google Shape;299;p15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300" name="Google Shape;300;p15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15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" name="Google Shape;302;p15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15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15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"/>
          <p:cNvSpPr/>
          <p:nvPr/>
        </p:nvSpPr>
        <p:spPr>
          <a:xfrm rot="1917429">
            <a:off x="-740302" y="3859619"/>
            <a:ext cx="3362272" cy="211437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21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56" name="Google Shape;456;p21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21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1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0" name="Google Shape;460;p21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2" name="Google Shape;462;p21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63" name="Google Shape;463;p21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21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21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6" name="Google Shape;466;p21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67" name="Google Shape;467;p21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68" name="Google Shape;468;p21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69" name="Google Shape;469;p21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" name="Google Shape;470;p21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" name="Google Shape;471;p21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" name="Google Shape;472;p21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/>
          <p:nvPr/>
        </p:nvSpPr>
        <p:spPr>
          <a:xfrm>
            <a:off x="284850" y="289800"/>
            <a:ext cx="8574300" cy="4563900"/>
          </a:xfrm>
          <a:prstGeom prst="roundRect">
            <a:avLst>
              <a:gd name="adj" fmla="val 8250"/>
            </a:avLst>
          </a:prstGeom>
          <a:solidFill>
            <a:schemeClr val="dk2"/>
          </a:solidFill>
          <a:ln>
            <a:noFill/>
          </a:ln>
          <a:effectLst>
            <a:outerShdw blurRad="57150" dist="76200" dir="408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2"/>
          <p:cNvSpPr/>
          <p:nvPr/>
        </p:nvSpPr>
        <p:spPr>
          <a:xfrm rot="-3396324">
            <a:off x="6499386" y="2974595"/>
            <a:ext cx="4291772" cy="2699372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" name="Google Shape;477;p22"/>
          <p:cNvGrpSpPr/>
          <p:nvPr/>
        </p:nvGrpSpPr>
        <p:grpSpPr>
          <a:xfrm>
            <a:off x="794438" y="489126"/>
            <a:ext cx="7585062" cy="273000"/>
            <a:chOff x="794438" y="489126"/>
            <a:chExt cx="7585062" cy="273000"/>
          </a:xfrm>
        </p:grpSpPr>
        <p:grpSp>
          <p:nvGrpSpPr>
            <p:cNvPr id="478" name="Google Shape;478;p22"/>
            <p:cNvGrpSpPr/>
            <p:nvPr/>
          </p:nvGrpSpPr>
          <p:grpSpPr>
            <a:xfrm>
              <a:off x="794438" y="534808"/>
              <a:ext cx="273000" cy="185406"/>
              <a:chOff x="794438" y="522095"/>
              <a:chExt cx="273000" cy="185406"/>
            </a:xfrm>
          </p:grpSpPr>
          <p:cxnSp>
            <p:nvCxnSpPr>
              <p:cNvPr id="479" name="Google Shape;479;p22"/>
              <p:cNvCxnSpPr/>
              <p:nvPr/>
            </p:nvCxnSpPr>
            <p:spPr>
              <a:xfrm>
                <a:off x="794438" y="522095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22"/>
              <p:cNvCxnSpPr/>
              <p:nvPr/>
            </p:nvCxnSpPr>
            <p:spPr>
              <a:xfrm>
                <a:off x="794438" y="614798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" name="Google Shape;481;p22"/>
              <p:cNvCxnSpPr/>
              <p:nvPr/>
            </p:nvCxnSpPr>
            <p:spPr>
              <a:xfrm>
                <a:off x="794438" y="707502"/>
                <a:ext cx="273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2" name="Google Shape;482;p22"/>
            <p:cNvGrpSpPr/>
            <p:nvPr/>
          </p:nvGrpSpPr>
          <p:grpSpPr>
            <a:xfrm>
              <a:off x="5634025" y="489126"/>
              <a:ext cx="2387400" cy="273000"/>
              <a:chOff x="5634025" y="516254"/>
              <a:chExt cx="2387400" cy="273000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5634025" y="516254"/>
                <a:ext cx="2387400" cy="2730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4" name="Google Shape;484;p22"/>
              <p:cNvGrpSpPr/>
              <p:nvPr/>
            </p:nvGrpSpPr>
            <p:grpSpPr>
              <a:xfrm>
                <a:off x="5733981" y="574878"/>
                <a:ext cx="157455" cy="157474"/>
                <a:chOff x="7626532" y="1566956"/>
                <a:chExt cx="248313" cy="248343"/>
              </a:xfrm>
            </p:grpSpPr>
            <p:sp>
              <p:nvSpPr>
                <p:cNvPr id="485" name="Google Shape;485;p22"/>
                <p:cNvSpPr/>
                <p:nvPr/>
              </p:nvSpPr>
              <p:spPr>
                <a:xfrm>
                  <a:off x="7626532" y="1566956"/>
                  <a:ext cx="248313" cy="248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9" h="75028" extrusionOk="0">
                      <a:moveTo>
                        <a:pt x="47789" y="3854"/>
                      </a:moveTo>
                      <a:cubicBezTo>
                        <a:pt x="53768" y="3854"/>
                        <a:pt x="59746" y="6128"/>
                        <a:pt x="64305" y="10688"/>
                      </a:cubicBezTo>
                      <a:cubicBezTo>
                        <a:pt x="68713" y="15095"/>
                        <a:pt x="71151" y="20956"/>
                        <a:pt x="71151" y="27203"/>
                      </a:cubicBezTo>
                      <a:cubicBezTo>
                        <a:pt x="71151" y="33439"/>
                        <a:pt x="68713" y="39300"/>
                        <a:pt x="64305" y="43707"/>
                      </a:cubicBezTo>
                      <a:cubicBezTo>
                        <a:pt x="59757" y="48261"/>
                        <a:pt x="53776" y="50538"/>
                        <a:pt x="47795" y="50538"/>
                      </a:cubicBezTo>
                      <a:cubicBezTo>
                        <a:pt x="41814" y="50538"/>
                        <a:pt x="35833" y="48261"/>
                        <a:pt x="31285" y="43707"/>
                      </a:cubicBezTo>
                      <a:cubicBezTo>
                        <a:pt x="26866" y="39300"/>
                        <a:pt x="24440" y="33439"/>
                        <a:pt x="24440" y="27203"/>
                      </a:cubicBezTo>
                      <a:cubicBezTo>
                        <a:pt x="24440" y="20956"/>
                        <a:pt x="26866" y="15095"/>
                        <a:pt x="31285" y="10688"/>
                      </a:cubicBezTo>
                      <a:cubicBezTo>
                        <a:pt x="35833" y="6128"/>
                        <a:pt x="41811" y="3854"/>
                        <a:pt x="47789" y="3854"/>
                      </a:cubicBezTo>
                      <a:close/>
                      <a:moveTo>
                        <a:pt x="19329" y="49076"/>
                      </a:moveTo>
                      <a:lnTo>
                        <a:pt x="25929" y="55675"/>
                      </a:lnTo>
                      <a:lnTo>
                        <a:pt x="23198" y="58418"/>
                      </a:lnTo>
                      <a:lnTo>
                        <a:pt x="16587" y="51819"/>
                      </a:lnTo>
                      <a:lnTo>
                        <a:pt x="19329" y="49076"/>
                      </a:lnTo>
                      <a:close/>
                      <a:moveTo>
                        <a:pt x="13855" y="54550"/>
                      </a:moveTo>
                      <a:lnTo>
                        <a:pt x="20466" y="61161"/>
                      </a:lnTo>
                      <a:lnTo>
                        <a:pt x="11828" y="69776"/>
                      </a:lnTo>
                      <a:cubicBezTo>
                        <a:pt x="10948" y="70655"/>
                        <a:pt x="9776" y="71136"/>
                        <a:pt x="8522" y="71136"/>
                      </a:cubicBezTo>
                      <a:cubicBezTo>
                        <a:pt x="7280" y="71136"/>
                        <a:pt x="6107" y="70655"/>
                        <a:pt x="5228" y="69776"/>
                      </a:cubicBezTo>
                      <a:cubicBezTo>
                        <a:pt x="4349" y="68897"/>
                        <a:pt x="3869" y="67725"/>
                        <a:pt x="3869" y="66482"/>
                      </a:cubicBezTo>
                      <a:cubicBezTo>
                        <a:pt x="3869" y="65240"/>
                        <a:pt x="4349" y="64068"/>
                        <a:pt x="5228" y="63189"/>
                      </a:cubicBezTo>
                      <a:lnTo>
                        <a:pt x="13855" y="54550"/>
                      </a:lnTo>
                      <a:close/>
                      <a:moveTo>
                        <a:pt x="47806" y="1"/>
                      </a:moveTo>
                      <a:cubicBezTo>
                        <a:pt x="40836" y="1"/>
                        <a:pt x="33864" y="2653"/>
                        <a:pt x="28554" y="7957"/>
                      </a:cubicBezTo>
                      <a:cubicBezTo>
                        <a:pt x="23408" y="13102"/>
                        <a:pt x="20584" y="19936"/>
                        <a:pt x="20584" y="27203"/>
                      </a:cubicBezTo>
                      <a:cubicBezTo>
                        <a:pt x="20584" y="33826"/>
                        <a:pt x="22928" y="40074"/>
                        <a:pt x="27241" y="45032"/>
                      </a:cubicBezTo>
                      <a:lnTo>
                        <a:pt x="23995" y="48267"/>
                      </a:lnTo>
                      <a:lnTo>
                        <a:pt x="20701" y="44973"/>
                      </a:lnTo>
                      <a:cubicBezTo>
                        <a:pt x="20337" y="44598"/>
                        <a:pt x="19857" y="44399"/>
                        <a:pt x="19341" y="44399"/>
                      </a:cubicBezTo>
                      <a:cubicBezTo>
                        <a:pt x="18825" y="44399"/>
                        <a:pt x="18345" y="44598"/>
                        <a:pt x="17981" y="44973"/>
                      </a:cubicBezTo>
                      <a:lnTo>
                        <a:pt x="2509" y="60446"/>
                      </a:lnTo>
                      <a:cubicBezTo>
                        <a:pt x="891" y="62052"/>
                        <a:pt x="0" y="64197"/>
                        <a:pt x="0" y="66482"/>
                      </a:cubicBezTo>
                      <a:cubicBezTo>
                        <a:pt x="0" y="68768"/>
                        <a:pt x="891" y="70901"/>
                        <a:pt x="2509" y="72519"/>
                      </a:cubicBezTo>
                      <a:cubicBezTo>
                        <a:pt x="4115" y="74125"/>
                        <a:pt x="6260" y="75027"/>
                        <a:pt x="8545" y="75027"/>
                      </a:cubicBezTo>
                      <a:cubicBezTo>
                        <a:pt x="10831" y="75027"/>
                        <a:pt x="12965" y="74125"/>
                        <a:pt x="14582" y="72519"/>
                      </a:cubicBezTo>
                      <a:lnTo>
                        <a:pt x="30031" y="57035"/>
                      </a:lnTo>
                      <a:cubicBezTo>
                        <a:pt x="30406" y="56660"/>
                        <a:pt x="30606" y="56179"/>
                        <a:pt x="30606" y="55663"/>
                      </a:cubicBezTo>
                      <a:cubicBezTo>
                        <a:pt x="30606" y="55159"/>
                        <a:pt x="30406" y="54667"/>
                        <a:pt x="30031" y="54304"/>
                      </a:cubicBezTo>
                      <a:lnTo>
                        <a:pt x="26737" y="51010"/>
                      </a:lnTo>
                      <a:lnTo>
                        <a:pt x="29973" y="47775"/>
                      </a:lnTo>
                      <a:cubicBezTo>
                        <a:pt x="35072" y="52194"/>
                        <a:pt x="41436" y="54409"/>
                        <a:pt x="47813" y="54409"/>
                      </a:cubicBezTo>
                      <a:cubicBezTo>
                        <a:pt x="54776" y="54409"/>
                        <a:pt x="61738" y="51760"/>
                        <a:pt x="67048" y="46450"/>
                      </a:cubicBezTo>
                      <a:cubicBezTo>
                        <a:pt x="72182" y="41304"/>
                        <a:pt x="75019" y="34483"/>
                        <a:pt x="75019" y="27215"/>
                      </a:cubicBezTo>
                      <a:cubicBezTo>
                        <a:pt x="75019" y="19936"/>
                        <a:pt x="72171" y="13102"/>
                        <a:pt x="67048" y="7957"/>
                      </a:cubicBezTo>
                      <a:cubicBezTo>
                        <a:pt x="61744" y="2653"/>
                        <a:pt x="54776" y="1"/>
                        <a:pt x="4780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22"/>
                <p:cNvSpPr/>
                <p:nvPr/>
              </p:nvSpPr>
              <p:spPr>
                <a:xfrm>
                  <a:off x="7716312" y="1594638"/>
                  <a:ext cx="136845" cy="12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43" h="37677" extrusionOk="0">
                      <a:moveTo>
                        <a:pt x="20665" y="3860"/>
                      </a:moveTo>
                      <a:cubicBezTo>
                        <a:pt x="24510" y="3860"/>
                        <a:pt x="28343" y="5325"/>
                        <a:pt x="31262" y="8244"/>
                      </a:cubicBezTo>
                      <a:cubicBezTo>
                        <a:pt x="37111" y="14093"/>
                        <a:pt x="37111" y="23599"/>
                        <a:pt x="31274" y="29448"/>
                      </a:cubicBezTo>
                      <a:cubicBezTo>
                        <a:pt x="28355" y="32367"/>
                        <a:pt x="24516" y="33826"/>
                        <a:pt x="20677" y="33826"/>
                      </a:cubicBezTo>
                      <a:cubicBezTo>
                        <a:pt x="16838" y="33826"/>
                        <a:pt x="13000" y="32367"/>
                        <a:pt x="10081" y="29448"/>
                      </a:cubicBezTo>
                      <a:cubicBezTo>
                        <a:pt x="4232" y="23599"/>
                        <a:pt x="4232" y="14093"/>
                        <a:pt x="10081" y="8244"/>
                      </a:cubicBezTo>
                      <a:cubicBezTo>
                        <a:pt x="12988" y="5325"/>
                        <a:pt x="16833" y="3860"/>
                        <a:pt x="20665" y="3860"/>
                      </a:cubicBezTo>
                      <a:close/>
                      <a:moveTo>
                        <a:pt x="20668" y="1"/>
                      </a:moveTo>
                      <a:cubicBezTo>
                        <a:pt x="15842" y="1"/>
                        <a:pt x="11019" y="1838"/>
                        <a:pt x="7350" y="5513"/>
                      </a:cubicBezTo>
                      <a:cubicBezTo>
                        <a:pt x="0" y="12874"/>
                        <a:pt x="0" y="24830"/>
                        <a:pt x="7350" y="32168"/>
                      </a:cubicBezTo>
                      <a:cubicBezTo>
                        <a:pt x="11030" y="35848"/>
                        <a:pt x="15848" y="37677"/>
                        <a:pt x="20689" y="37677"/>
                      </a:cubicBezTo>
                      <a:cubicBezTo>
                        <a:pt x="25518" y="37677"/>
                        <a:pt x="30336" y="35848"/>
                        <a:pt x="34016" y="32168"/>
                      </a:cubicBezTo>
                      <a:cubicBezTo>
                        <a:pt x="41342" y="24818"/>
                        <a:pt x="41342" y="12862"/>
                        <a:pt x="34005" y="5513"/>
                      </a:cubicBezTo>
                      <a:cubicBezTo>
                        <a:pt x="30324" y="1838"/>
                        <a:pt x="25495" y="1"/>
                        <a:pt x="206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2"/>
                <p:cNvSpPr/>
                <p:nvPr/>
              </p:nvSpPr>
              <p:spPr>
                <a:xfrm>
                  <a:off x="7758485" y="1623378"/>
                  <a:ext cx="52536" cy="2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2" h="6266" extrusionOk="0">
                      <a:moveTo>
                        <a:pt x="7936" y="1"/>
                      </a:moveTo>
                      <a:cubicBezTo>
                        <a:pt x="5331" y="1"/>
                        <a:pt x="2726" y="991"/>
                        <a:pt x="751" y="2972"/>
                      </a:cubicBezTo>
                      <a:cubicBezTo>
                        <a:pt x="1" y="3722"/>
                        <a:pt x="1" y="4953"/>
                        <a:pt x="751" y="5703"/>
                      </a:cubicBezTo>
                      <a:cubicBezTo>
                        <a:pt x="1126" y="6072"/>
                        <a:pt x="1621" y="6257"/>
                        <a:pt x="2115" y="6257"/>
                      </a:cubicBezTo>
                      <a:cubicBezTo>
                        <a:pt x="2609" y="6257"/>
                        <a:pt x="3101" y="6072"/>
                        <a:pt x="3470" y="5703"/>
                      </a:cubicBezTo>
                      <a:cubicBezTo>
                        <a:pt x="4701" y="4472"/>
                        <a:pt x="6316" y="3857"/>
                        <a:pt x="7929" y="3857"/>
                      </a:cubicBezTo>
                      <a:cubicBezTo>
                        <a:pt x="9542" y="3857"/>
                        <a:pt x="11154" y="4472"/>
                        <a:pt x="12379" y="5703"/>
                      </a:cubicBezTo>
                      <a:cubicBezTo>
                        <a:pt x="12766" y="6078"/>
                        <a:pt x="13246" y="6266"/>
                        <a:pt x="13738" y="6266"/>
                      </a:cubicBezTo>
                      <a:cubicBezTo>
                        <a:pt x="14242" y="6266"/>
                        <a:pt x="14723" y="6078"/>
                        <a:pt x="15110" y="5703"/>
                      </a:cubicBezTo>
                      <a:cubicBezTo>
                        <a:pt x="15872" y="4953"/>
                        <a:pt x="15872" y="3722"/>
                        <a:pt x="15122" y="2972"/>
                      </a:cubicBezTo>
                      <a:cubicBezTo>
                        <a:pt x="13146" y="991"/>
                        <a:pt x="10541" y="1"/>
                        <a:pt x="7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8" name="Google Shape;488;p22"/>
            <p:cNvGrpSpPr/>
            <p:nvPr/>
          </p:nvGrpSpPr>
          <p:grpSpPr>
            <a:xfrm>
              <a:off x="8106499" y="489126"/>
              <a:ext cx="273000" cy="273000"/>
              <a:chOff x="8106499" y="516254"/>
              <a:chExt cx="273000" cy="273000"/>
            </a:xfrm>
          </p:grpSpPr>
          <p:sp>
            <p:nvSpPr>
              <p:cNvPr id="489" name="Google Shape;489;p22"/>
              <p:cNvSpPr/>
              <p:nvPr/>
            </p:nvSpPr>
            <p:spPr>
              <a:xfrm>
                <a:off x="8106499" y="516254"/>
                <a:ext cx="273000" cy="273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0" name="Google Shape;490;p22"/>
              <p:cNvGrpSpPr/>
              <p:nvPr/>
            </p:nvGrpSpPr>
            <p:grpSpPr>
              <a:xfrm>
                <a:off x="8160297" y="582146"/>
                <a:ext cx="157465" cy="144971"/>
                <a:chOff x="6993499" y="1616539"/>
                <a:chExt cx="205703" cy="189381"/>
              </a:xfrm>
            </p:grpSpPr>
            <p:sp>
              <p:nvSpPr>
                <p:cNvPr id="491" name="Google Shape;491;p22"/>
                <p:cNvSpPr/>
                <p:nvPr/>
              </p:nvSpPr>
              <p:spPr>
                <a:xfrm>
                  <a:off x="7061995" y="1769950"/>
                  <a:ext cx="36003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0" h="13188" extrusionOk="0">
                      <a:moveTo>
                        <a:pt x="6588" y="3681"/>
                      </a:moveTo>
                      <a:cubicBezTo>
                        <a:pt x="8206" y="3681"/>
                        <a:pt x="9507" y="4982"/>
                        <a:pt x="9507" y="6600"/>
                      </a:cubicBezTo>
                      <a:cubicBezTo>
                        <a:pt x="9507" y="8205"/>
                        <a:pt x="8206" y="9506"/>
                        <a:pt x="6588" y="9506"/>
                      </a:cubicBezTo>
                      <a:cubicBezTo>
                        <a:pt x="4983" y="9506"/>
                        <a:pt x="3682" y="8205"/>
                        <a:pt x="3682" y="6600"/>
                      </a:cubicBezTo>
                      <a:cubicBezTo>
                        <a:pt x="3682" y="4982"/>
                        <a:pt x="4983" y="3681"/>
                        <a:pt x="6588" y="3681"/>
                      </a:cubicBezTo>
                      <a:close/>
                      <a:moveTo>
                        <a:pt x="6588" y="0"/>
                      </a:moveTo>
                      <a:cubicBezTo>
                        <a:pt x="2955" y="0"/>
                        <a:pt x="1" y="2966"/>
                        <a:pt x="1" y="6600"/>
                      </a:cubicBezTo>
                      <a:cubicBezTo>
                        <a:pt x="1" y="10233"/>
                        <a:pt x="2955" y="13187"/>
                        <a:pt x="6588" y="13187"/>
                      </a:cubicBezTo>
                      <a:cubicBezTo>
                        <a:pt x="10234" y="13187"/>
                        <a:pt x="13188" y="10233"/>
                        <a:pt x="13188" y="6600"/>
                      </a:cubicBezTo>
                      <a:cubicBezTo>
                        <a:pt x="13200" y="2966"/>
                        <a:pt x="10246" y="0"/>
                        <a:pt x="65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22"/>
                <p:cNvSpPr/>
                <p:nvPr/>
              </p:nvSpPr>
              <p:spPr>
                <a:xfrm>
                  <a:off x="7125155" y="1769950"/>
                  <a:ext cx="35970" cy="3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8" h="13188" extrusionOk="0">
                      <a:moveTo>
                        <a:pt x="6599" y="3681"/>
                      </a:moveTo>
                      <a:cubicBezTo>
                        <a:pt x="8205" y="3681"/>
                        <a:pt x="9506" y="4982"/>
                        <a:pt x="9506" y="6600"/>
                      </a:cubicBezTo>
                      <a:cubicBezTo>
                        <a:pt x="9506" y="8205"/>
                        <a:pt x="8194" y="9506"/>
                        <a:pt x="6599" y="9506"/>
                      </a:cubicBezTo>
                      <a:cubicBezTo>
                        <a:pt x="4982" y="9506"/>
                        <a:pt x="3681" y="8205"/>
                        <a:pt x="3681" y="6600"/>
                      </a:cubicBezTo>
                      <a:cubicBezTo>
                        <a:pt x="3681" y="4982"/>
                        <a:pt x="4982" y="3681"/>
                        <a:pt x="6599" y="3681"/>
                      </a:cubicBezTo>
                      <a:close/>
                      <a:moveTo>
                        <a:pt x="6599" y="0"/>
                      </a:moveTo>
                      <a:cubicBezTo>
                        <a:pt x="2966" y="0"/>
                        <a:pt x="0" y="2966"/>
                        <a:pt x="0" y="6600"/>
                      </a:cubicBezTo>
                      <a:cubicBezTo>
                        <a:pt x="0" y="10233"/>
                        <a:pt x="2966" y="13187"/>
                        <a:pt x="6599" y="13187"/>
                      </a:cubicBezTo>
                      <a:cubicBezTo>
                        <a:pt x="10233" y="13187"/>
                        <a:pt x="13187" y="10233"/>
                        <a:pt x="13187" y="6600"/>
                      </a:cubicBezTo>
                      <a:cubicBezTo>
                        <a:pt x="13187" y="2966"/>
                        <a:pt x="10233" y="0"/>
                        <a:pt x="6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22"/>
                <p:cNvSpPr/>
                <p:nvPr/>
              </p:nvSpPr>
              <p:spPr>
                <a:xfrm>
                  <a:off x="7070501" y="1675160"/>
                  <a:ext cx="82073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91" h="3693" extrusionOk="0">
                      <a:moveTo>
                        <a:pt x="1853" y="0"/>
                      </a:moveTo>
                      <a:cubicBezTo>
                        <a:pt x="845" y="0"/>
                        <a:pt x="1" y="821"/>
                        <a:pt x="1" y="1852"/>
                      </a:cubicBezTo>
                      <a:cubicBezTo>
                        <a:pt x="1" y="2872"/>
                        <a:pt x="821" y="3693"/>
                        <a:pt x="1853" y="3693"/>
                      </a:cubicBezTo>
                      <a:lnTo>
                        <a:pt x="28238" y="3693"/>
                      </a:lnTo>
                      <a:cubicBezTo>
                        <a:pt x="29246" y="3693"/>
                        <a:pt x="30090" y="2872"/>
                        <a:pt x="30090" y="1852"/>
                      </a:cubicBezTo>
                      <a:cubicBezTo>
                        <a:pt x="30090" y="821"/>
                        <a:pt x="29270" y="0"/>
                        <a:pt x="282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22"/>
                <p:cNvSpPr/>
                <p:nvPr/>
              </p:nvSpPr>
              <p:spPr>
                <a:xfrm>
                  <a:off x="7074435" y="1701289"/>
                  <a:ext cx="74207" cy="10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07" h="3693" extrusionOk="0">
                      <a:moveTo>
                        <a:pt x="1841" y="0"/>
                      </a:moveTo>
                      <a:cubicBezTo>
                        <a:pt x="833" y="0"/>
                        <a:pt x="1" y="821"/>
                        <a:pt x="1" y="1840"/>
                      </a:cubicBezTo>
                      <a:cubicBezTo>
                        <a:pt x="1" y="2872"/>
                        <a:pt x="821" y="3692"/>
                        <a:pt x="1841" y="3692"/>
                      </a:cubicBezTo>
                      <a:lnTo>
                        <a:pt x="25366" y="3692"/>
                      </a:lnTo>
                      <a:cubicBezTo>
                        <a:pt x="26374" y="3692"/>
                        <a:pt x="27207" y="2872"/>
                        <a:pt x="27207" y="1840"/>
                      </a:cubicBezTo>
                      <a:cubicBezTo>
                        <a:pt x="27207" y="821"/>
                        <a:pt x="26386" y="0"/>
                        <a:pt x="253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22"/>
                <p:cNvSpPr/>
                <p:nvPr/>
              </p:nvSpPr>
              <p:spPr>
                <a:xfrm>
                  <a:off x="6993499" y="1616539"/>
                  <a:ext cx="205703" cy="14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18" h="53252" extrusionOk="0">
                      <a:moveTo>
                        <a:pt x="71584" y="15614"/>
                      </a:moveTo>
                      <a:lnTo>
                        <a:pt x="66427" y="40628"/>
                      </a:lnTo>
                      <a:lnTo>
                        <a:pt x="20126" y="40628"/>
                      </a:lnTo>
                      <a:lnTo>
                        <a:pt x="14969" y="15614"/>
                      </a:lnTo>
                      <a:close/>
                      <a:moveTo>
                        <a:pt x="2096" y="0"/>
                      </a:moveTo>
                      <a:cubicBezTo>
                        <a:pt x="1379" y="0"/>
                        <a:pt x="699" y="423"/>
                        <a:pt x="410" y="1114"/>
                      </a:cubicBezTo>
                      <a:cubicBezTo>
                        <a:pt x="0" y="2052"/>
                        <a:pt x="434" y="3130"/>
                        <a:pt x="1360" y="3529"/>
                      </a:cubicBezTo>
                      <a:lnTo>
                        <a:pt x="9448" y="7045"/>
                      </a:lnTo>
                      <a:lnTo>
                        <a:pt x="18356" y="50310"/>
                      </a:lnTo>
                      <a:cubicBezTo>
                        <a:pt x="18708" y="52009"/>
                        <a:pt x="20232" y="53252"/>
                        <a:pt x="21955" y="53252"/>
                      </a:cubicBezTo>
                      <a:lnTo>
                        <a:pt x="66087" y="53252"/>
                      </a:lnTo>
                      <a:cubicBezTo>
                        <a:pt x="67107" y="53252"/>
                        <a:pt x="67939" y="52431"/>
                        <a:pt x="67939" y="51412"/>
                      </a:cubicBezTo>
                      <a:cubicBezTo>
                        <a:pt x="67939" y="50380"/>
                        <a:pt x="67118" y="49560"/>
                        <a:pt x="66087" y="49560"/>
                      </a:cubicBezTo>
                      <a:lnTo>
                        <a:pt x="21955" y="49560"/>
                      </a:lnTo>
                      <a:lnTo>
                        <a:pt x="20876" y="44308"/>
                      </a:lnTo>
                      <a:lnTo>
                        <a:pt x="66427" y="44308"/>
                      </a:lnTo>
                      <a:cubicBezTo>
                        <a:pt x="68173" y="44308"/>
                        <a:pt x="69685" y="43078"/>
                        <a:pt x="70037" y="41355"/>
                      </a:cubicBezTo>
                      <a:lnTo>
                        <a:pt x="75194" y="16352"/>
                      </a:lnTo>
                      <a:cubicBezTo>
                        <a:pt x="75417" y="15262"/>
                        <a:pt x="75148" y="14149"/>
                        <a:pt x="74444" y="13281"/>
                      </a:cubicBezTo>
                      <a:cubicBezTo>
                        <a:pt x="73741" y="12426"/>
                        <a:pt x="72698" y="11922"/>
                        <a:pt x="71584" y="11922"/>
                      </a:cubicBezTo>
                      <a:lnTo>
                        <a:pt x="14207" y="11922"/>
                      </a:lnTo>
                      <a:lnTo>
                        <a:pt x="13046" y="6295"/>
                      </a:lnTo>
                      <a:cubicBezTo>
                        <a:pt x="12800" y="5123"/>
                        <a:pt x="12015" y="4139"/>
                        <a:pt x="10913" y="3658"/>
                      </a:cubicBezTo>
                      <a:lnTo>
                        <a:pt x="2825" y="153"/>
                      </a:lnTo>
                      <a:cubicBezTo>
                        <a:pt x="2587" y="49"/>
                        <a:pt x="2339" y="0"/>
                        <a:pt x="20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●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○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ybody"/>
              <a:buChar char="■"/>
              <a:defRPr sz="1200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1" r:id="rId9"/>
    <p:sldLayoutId id="2147483667" r:id="rId10"/>
    <p:sldLayoutId id="214748366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f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6"/>
          <p:cNvSpPr txBox="1">
            <a:spLocks noGrp="1"/>
          </p:cNvSpPr>
          <p:nvPr>
            <p:ph type="ctrTitle"/>
          </p:nvPr>
        </p:nvSpPr>
        <p:spPr>
          <a:xfrm>
            <a:off x="471999" y="1059496"/>
            <a:ext cx="8344899" cy="15122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br>
              <a:rPr lang="en-US" sz="2800" dirty="0"/>
            </a:br>
            <a:r>
              <a:rPr lang="en-US" sz="3200" dirty="0"/>
              <a:t>MySQL : </a:t>
            </a:r>
            <a:r>
              <a:rPr lang="en-US" sz="2400" b="0" dirty="0"/>
              <a:t>Advanced E-Commerce Platform Backend</a:t>
            </a:r>
            <a:br>
              <a:rPr lang="en-US" sz="2800" b="0" dirty="0"/>
            </a:br>
            <a:br>
              <a:rPr lang="en-US" sz="2800" dirty="0"/>
            </a:br>
            <a:r>
              <a:rPr lang="en-US" sz="2800" dirty="0"/>
              <a:t>MongoDB : </a:t>
            </a:r>
            <a:r>
              <a:rPr lang="en-US" sz="2400" b="0" dirty="0"/>
              <a:t>Advanced Social Media Platform Backend </a:t>
            </a:r>
            <a:endParaRPr sz="2800" b="0" dirty="0"/>
          </a:p>
        </p:txBody>
      </p:sp>
      <p:sp>
        <p:nvSpPr>
          <p:cNvPr id="508" name="Google Shape;508;p26"/>
          <p:cNvSpPr/>
          <p:nvPr/>
        </p:nvSpPr>
        <p:spPr>
          <a:xfrm rot="-1563061">
            <a:off x="6284801" y="3140198"/>
            <a:ext cx="4291947" cy="2699489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9" name="Google Shape;509;p26"/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10" name="Google Shape;510;p26">
              <a:hlinkClick r:id="" action="ppaction://hlinkshowjump?jump=nextslide"/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1" name="Google Shape;511;p26">
              <a:hlinkClick r:id="" action="ppaction://hlinkshowjump?jump=nextslide"/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8FE2428D-FD40-A56F-8316-5A30FE4F0B51}"/>
              </a:ext>
            </a:extLst>
          </p:cNvPr>
          <p:cNvSpPr txBox="1"/>
          <p:nvPr/>
        </p:nvSpPr>
        <p:spPr>
          <a:xfrm>
            <a:off x="948439" y="3083795"/>
            <a:ext cx="30547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nybody" panose="020B0604020202020204" charset="0"/>
              </a:rPr>
              <a:t>Presented by:</a:t>
            </a:r>
          </a:p>
          <a:p>
            <a:r>
              <a:rPr lang="en-US" b="1" dirty="0"/>
              <a:t>ISFI  </a:t>
            </a:r>
            <a:r>
              <a:rPr lang="en-US" dirty="0"/>
              <a:t>Abderrahmane</a:t>
            </a:r>
          </a:p>
          <a:p>
            <a:r>
              <a:rPr lang="en-US" b="1" dirty="0"/>
              <a:t>TABCHI </a:t>
            </a:r>
            <a:r>
              <a:rPr lang="en-US" dirty="0"/>
              <a:t>Achraf</a:t>
            </a:r>
          </a:p>
          <a:p>
            <a:r>
              <a:rPr lang="en-US" b="1" dirty="0"/>
              <a:t>EL MOTAOUAKKEL </a:t>
            </a:r>
            <a:r>
              <a:rPr lang="en-US" dirty="0"/>
              <a:t>Hossam</a:t>
            </a:r>
          </a:p>
          <a:p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 txBox="1">
            <a:spLocks noGrp="1"/>
          </p:cNvSpPr>
          <p:nvPr>
            <p:ph type="title" idx="15"/>
          </p:nvPr>
        </p:nvSpPr>
        <p:spPr>
          <a:xfrm>
            <a:off x="720000" y="762125"/>
            <a:ext cx="165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MySQL</a:t>
            </a:r>
            <a:endParaRPr dirty="0"/>
          </a:p>
        </p:txBody>
      </p:sp>
      <p:sp>
        <p:nvSpPr>
          <p:cNvPr id="526" name="Google Shape;526;p28"/>
          <p:cNvSpPr txBox="1">
            <a:spLocks noGrp="1"/>
          </p:cNvSpPr>
          <p:nvPr>
            <p:ph type="title"/>
          </p:nvPr>
        </p:nvSpPr>
        <p:spPr>
          <a:xfrm>
            <a:off x="648000" y="1567007"/>
            <a:ext cx="734700" cy="461917"/>
          </a:xfrm>
          <a:prstGeom prst="rect">
            <a:avLst/>
          </a:prstGeom>
        </p:spPr>
        <p:txBody>
          <a:bodyPr spcFirstLastPara="1" wrap="square" lIns="91425" tIns="91425" rIns="91425" bIns="91425" numCol="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01</a:t>
            </a:r>
            <a:endParaRPr sz="2400" dirty="0"/>
          </a:p>
        </p:txBody>
      </p:sp>
      <p:sp>
        <p:nvSpPr>
          <p:cNvPr id="532" name="Google Shape;532;p28"/>
          <p:cNvSpPr txBox="1">
            <a:spLocks noGrp="1"/>
          </p:cNvSpPr>
          <p:nvPr>
            <p:ph type="subTitle" idx="1"/>
          </p:nvPr>
        </p:nvSpPr>
        <p:spPr>
          <a:xfrm>
            <a:off x="1291438" y="1609468"/>
            <a:ext cx="2305500" cy="3769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400" dirty="0"/>
              <a:t>Database Creation</a:t>
            </a:r>
            <a:endParaRPr sz="1400" dirty="0"/>
          </a:p>
        </p:txBody>
      </p:sp>
      <p:sp>
        <p:nvSpPr>
          <p:cNvPr id="22" name="Google Shape;526;p28">
            <a:extLst>
              <a:ext uri="{FF2B5EF4-FFF2-40B4-BE49-F238E27FC236}">
                <a16:creationId xmlns:a16="http://schemas.microsoft.com/office/drawing/2014/main" id="{81940257-F762-81B2-B707-6B296EBC99A7}"/>
              </a:ext>
            </a:extLst>
          </p:cNvPr>
          <p:cNvSpPr txBox="1">
            <a:spLocks/>
          </p:cNvSpPr>
          <p:nvPr/>
        </p:nvSpPr>
        <p:spPr>
          <a:xfrm>
            <a:off x="648000" y="2030146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02</a:t>
            </a:r>
          </a:p>
        </p:txBody>
      </p:sp>
      <p:sp>
        <p:nvSpPr>
          <p:cNvPr id="23" name="Google Shape;532;p28">
            <a:extLst>
              <a:ext uri="{FF2B5EF4-FFF2-40B4-BE49-F238E27FC236}">
                <a16:creationId xmlns:a16="http://schemas.microsoft.com/office/drawing/2014/main" id="{260320E2-10C3-EEA0-B772-2D0C55386AC3}"/>
              </a:ext>
            </a:extLst>
          </p:cNvPr>
          <p:cNvSpPr txBox="1">
            <a:spLocks/>
          </p:cNvSpPr>
          <p:nvPr/>
        </p:nvSpPr>
        <p:spPr>
          <a:xfrm>
            <a:off x="1291438" y="2072607"/>
            <a:ext cx="2305500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Creation of Tables</a:t>
            </a:r>
          </a:p>
        </p:txBody>
      </p:sp>
      <p:sp>
        <p:nvSpPr>
          <p:cNvPr id="26" name="Google Shape;526;p28">
            <a:extLst>
              <a:ext uri="{FF2B5EF4-FFF2-40B4-BE49-F238E27FC236}">
                <a16:creationId xmlns:a16="http://schemas.microsoft.com/office/drawing/2014/main" id="{E5CA8A47-485B-2F19-19C2-98128F61848F}"/>
              </a:ext>
            </a:extLst>
          </p:cNvPr>
          <p:cNvSpPr txBox="1">
            <a:spLocks/>
          </p:cNvSpPr>
          <p:nvPr/>
        </p:nvSpPr>
        <p:spPr>
          <a:xfrm>
            <a:off x="648000" y="2529289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03</a:t>
            </a:r>
          </a:p>
        </p:txBody>
      </p:sp>
      <p:sp>
        <p:nvSpPr>
          <p:cNvPr id="27" name="Google Shape;532;p28">
            <a:extLst>
              <a:ext uri="{FF2B5EF4-FFF2-40B4-BE49-F238E27FC236}">
                <a16:creationId xmlns:a16="http://schemas.microsoft.com/office/drawing/2014/main" id="{07192E2B-C5A4-AB58-F58F-EAD5AC943691}"/>
              </a:ext>
            </a:extLst>
          </p:cNvPr>
          <p:cNvSpPr txBox="1">
            <a:spLocks/>
          </p:cNvSpPr>
          <p:nvPr/>
        </p:nvSpPr>
        <p:spPr>
          <a:xfrm>
            <a:off x="1291438" y="2571750"/>
            <a:ext cx="2524562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 Insertion</a:t>
            </a:r>
          </a:p>
        </p:txBody>
      </p:sp>
      <p:sp>
        <p:nvSpPr>
          <p:cNvPr id="28" name="Google Shape;526;p28">
            <a:extLst>
              <a:ext uri="{FF2B5EF4-FFF2-40B4-BE49-F238E27FC236}">
                <a16:creationId xmlns:a16="http://schemas.microsoft.com/office/drawing/2014/main" id="{7972F502-D2DD-98DB-9688-78C90EC3D12F}"/>
              </a:ext>
            </a:extLst>
          </p:cNvPr>
          <p:cNvSpPr txBox="1">
            <a:spLocks/>
          </p:cNvSpPr>
          <p:nvPr/>
        </p:nvSpPr>
        <p:spPr>
          <a:xfrm>
            <a:off x="648000" y="3028430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04</a:t>
            </a:r>
          </a:p>
        </p:txBody>
      </p:sp>
      <p:sp>
        <p:nvSpPr>
          <p:cNvPr id="29" name="Google Shape;532;p28">
            <a:extLst>
              <a:ext uri="{FF2B5EF4-FFF2-40B4-BE49-F238E27FC236}">
                <a16:creationId xmlns:a16="http://schemas.microsoft.com/office/drawing/2014/main" id="{07CCFD32-55A8-3ED7-8E47-DA42D901C51B}"/>
              </a:ext>
            </a:extLst>
          </p:cNvPr>
          <p:cNvSpPr txBox="1">
            <a:spLocks/>
          </p:cNvSpPr>
          <p:nvPr/>
        </p:nvSpPr>
        <p:spPr>
          <a:xfrm>
            <a:off x="1291438" y="3070891"/>
            <a:ext cx="2639762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 Verification</a:t>
            </a:r>
          </a:p>
        </p:txBody>
      </p:sp>
      <p:sp>
        <p:nvSpPr>
          <p:cNvPr id="30" name="Google Shape;526;p28">
            <a:extLst>
              <a:ext uri="{FF2B5EF4-FFF2-40B4-BE49-F238E27FC236}">
                <a16:creationId xmlns:a16="http://schemas.microsoft.com/office/drawing/2014/main" id="{5C0830F8-8BCE-807C-F940-15690EA169CE}"/>
              </a:ext>
            </a:extLst>
          </p:cNvPr>
          <p:cNvSpPr txBox="1">
            <a:spLocks/>
          </p:cNvSpPr>
          <p:nvPr/>
        </p:nvSpPr>
        <p:spPr>
          <a:xfrm>
            <a:off x="648000" y="3527571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05</a:t>
            </a:r>
          </a:p>
        </p:txBody>
      </p:sp>
      <p:sp>
        <p:nvSpPr>
          <p:cNvPr id="31" name="Google Shape;532;p28">
            <a:extLst>
              <a:ext uri="{FF2B5EF4-FFF2-40B4-BE49-F238E27FC236}">
                <a16:creationId xmlns:a16="http://schemas.microsoft.com/office/drawing/2014/main" id="{7B8C845E-A352-D394-0B29-36B70D3962C8}"/>
              </a:ext>
            </a:extLst>
          </p:cNvPr>
          <p:cNvSpPr txBox="1">
            <a:spLocks/>
          </p:cNvSpPr>
          <p:nvPr/>
        </p:nvSpPr>
        <p:spPr>
          <a:xfrm>
            <a:off x="1291438" y="3570032"/>
            <a:ext cx="2639762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Database Modifications</a:t>
            </a:r>
          </a:p>
        </p:txBody>
      </p:sp>
      <p:sp>
        <p:nvSpPr>
          <p:cNvPr id="32" name="Google Shape;525;p28">
            <a:extLst>
              <a:ext uri="{FF2B5EF4-FFF2-40B4-BE49-F238E27FC236}">
                <a16:creationId xmlns:a16="http://schemas.microsoft.com/office/drawing/2014/main" id="{D8E64952-D8DB-746C-23F1-D60D11085FDA}"/>
              </a:ext>
            </a:extLst>
          </p:cNvPr>
          <p:cNvSpPr txBox="1">
            <a:spLocks/>
          </p:cNvSpPr>
          <p:nvPr/>
        </p:nvSpPr>
        <p:spPr>
          <a:xfrm>
            <a:off x="4641361" y="762125"/>
            <a:ext cx="212664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-US" dirty="0"/>
              <a:t>MongoDB</a:t>
            </a:r>
          </a:p>
        </p:txBody>
      </p:sp>
      <p:sp>
        <p:nvSpPr>
          <p:cNvPr id="33" name="Google Shape;526;p28">
            <a:extLst>
              <a:ext uri="{FF2B5EF4-FFF2-40B4-BE49-F238E27FC236}">
                <a16:creationId xmlns:a16="http://schemas.microsoft.com/office/drawing/2014/main" id="{D5B98F6F-E09D-9AD3-2475-25539DF6512B}"/>
              </a:ext>
            </a:extLst>
          </p:cNvPr>
          <p:cNvSpPr txBox="1">
            <a:spLocks/>
          </p:cNvSpPr>
          <p:nvPr/>
        </p:nvSpPr>
        <p:spPr>
          <a:xfrm>
            <a:off x="4569362" y="1567007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/>
              <a:t>01</a:t>
            </a:r>
            <a:endParaRPr lang="en" sz="2400" dirty="0"/>
          </a:p>
        </p:txBody>
      </p:sp>
      <p:sp>
        <p:nvSpPr>
          <p:cNvPr id="34" name="Google Shape;532;p28">
            <a:extLst>
              <a:ext uri="{FF2B5EF4-FFF2-40B4-BE49-F238E27FC236}">
                <a16:creationId xmlns:a16="http://schemas.microsoft.com/office/drawing/2014/main" id="{8A7DBD6E-FC68-F819-E07C-59C7733227B4}"/>
              </a:ext>
            </a:extLst>
          </p:cNvPr>
          <p:cNvSpPr txBox="1">
            <a:spLocks/>
          </p:cNvSpPr>
          <p:nvPr/>
        </p:nvSpPr>
        <p:spPr>
          <a:xfrm>
            <a:off x="5212800" y="1609468"/>
            <a:ext cx="3737912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Database &amp; Collection Setup</a:t>
            </a:r>
            <a:endParaRPr lang="en-US" sz="1100" dirty="0"/>
          </a:p>
        </p:txBody>
      </p:sp>
      <p:sp>
        <p:nvSpPr>
          <p:cNvPr id="35" name="Google Shape;526;p28">
            <a:extLst>
              <a:ext uri="{FF2B5EF4-FFF2-40B4-BE49-F238E27FC236}">
                <a16:creationId xmlns:a16="http://schemas.microsoft.com/office/drawing/2014/main" id="{81046D4F-1AE7-A2FB-982A-11C1FBBF6D14}"/>
              </a:ext>
            </a:extLst>
          </p:cNvPr>
          <p:cNvSpPr txBox="1">
            <a:spLocks/>
          </p:cNvSpPr>
          <p:nvPr/>
        </p:nvSpPr>
        <p:spPr>
          <a:xfrm>
            <a:off x="4569362" y="2030146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02</a:t>
            </a:r>
          </a:p>
        </p:txBody>
      </p:sp>
      <p:sp>
        <p:nvSpPr>
          <p:cNvPr id="36" name="Google Shape;532;p28">
            <a:extLst>
              <a:ext uri="{FF2B5EF4-FFF2-40B4-BE49-F238E27FC236}">
                <a16:creationId xmlns:a16="http://schemas.microsoft.com/office/drawing/2014/main" id="{5542714C-2FE4-412E-52F1-AF253FA232A9}"/>
              </a:ext>
            </a:extLst>
          </p:cNvPr>
          <p:cNvSpPr txBox="1">
            <a:spLocks/>
          </p:cNvSpPr>
          <p:nvPr/>
        </p:nvSpPr>
        <p:spPr>
          <a:xfrm>
            <a:off x="5212800" y="2072607"/>
            <a:ext cx="2305500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 Insertion</a:t>
            </a:r>
            <a:endParaRPr lang="en-US" sz="1100" dirty="0"/>
          </a:p>
        </p:txBody>
      </p:sp>
      <p:sp>
        <p:nvSpPr>
          <p:cNvPr id="37" name="Google Shape;526;p28">
            <a:extLst>
              <a:ext uri="{FF2B5EF4-FFF2-40B4-BE49-F238E27FC236}">
                <a16:creationId xmlns:a16="http://schemas.microsoft.com/office/drawing/2014/main" id="{D84D6A74-0B44-F09E-0AD0-1B909503CE9B}"/>
              </a:ext>
            </a:extLst>
          </p:cNvPr>
          <p:cNvSpPr txBox="1">
            <a:spLocks/>
          </p:cNvSpPr>
          <p:nvPr/>
        </p:nvSpPr>
        <p:spPr>
          <a:xfrm>
            <a:off x="4569362" y="2529289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03</a:t>
            </a:r>
          </a:p>
        </p:txBody>
      </p:sp>
      <p:sp>
        <p:nvSpPr>
          <p:cNvPr id="38" name="Google Shape;532;p28">
            <a:extLst>
              <a:ext uri="{FF2B5EF4-FFF2-40B4-BE49-F238E27FC236}">
                <a16:creationId xmlns:a16="http://schemas.microsoft.com/office/drawing/2014/main" id="{07D138BA-611D-C283-F1C3-83BA7DA84284}"/>
              </a:ext>
            </a:extLst>
          </p:cNvPr>
          <p:cNvSpPr txBox="1">
            <a:spLocks/>
          </p:cNvSpPr>
          <p:nvPr/>
        </p:nvSpPr>
        <p:spPr>
          <a:xfrm>
            <a:off x="5212799" y="2571750"/>
            <a:ext cx="2845815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Queries and Aggregations</a:t>
            </a:r>
          </a:p>
        </p:txBody>
      </p:sp>
      <p:sp>
        <p:nvSpPr>
          <p:cNvPr id="39" name="Google Shape;526;p28">
            <a:extLst>
              <a:ext uri="{FF2B5EF4-FFF2-40B4-BE49-F238E27FC236}">
                <a16:creationId xmlns:a16="http://schemas.microsoft.com/office/drawing/2014/main" id="{4920350A-9B68-354E-3F8C-94D19D2DBB74}"/>
              </a:ext>
            </a:extLst>
          </p:cNvPr>
          <p:cNvSpPr txBox="1">
            <a:spLocks/>
          </p:cNvSpPr>
          <p:nvPr/>
        </p:nvSpPr>
        <p:spPr>
          <a:xfrm>
            <a:off x="4569362" y="3028430"/>
            <a:ext cx="734700" cy="46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lt2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"/>
              <a:buNone/>
              <a:defRPr sz="30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r>
              <a:rPr lang="en" sz="2400" dirty="0"/>
              <a:t>04</a:t>
            </a:r>
          </a:p>
        </p:txBody>
      </p:sp>
      <p:sp>
        <p:nvSpPr>
          <p:cNvPr id="40" name="Google Shape;532;p28">
            <a:extLst>
              <a:ext uri="{FF2B5EF4-FFF2-40B4-BE49-F238E27FC236}">
                <a16:creationId xmlns:a16="http://schemas.microsoft.com/office/drawing/2014/main" id="{8BDA1E79-5A51-6B37-51A3-FFB0E31406E2}"/>
              </a:ext>
            </a:extLst>
          </p:cNvPr>
          <p:cNvSpPr txBox="1">
            <a:spLocks/>
          </p:cNvSpPr>
          <p:nvPr/>
        </p:nvSpPr>
        <p:spPr>
          <a:xfrm>
            <a:off x="5212800" y="3070891"/>
            <a:ext cx="2639762" cy="3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18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ybody"/>
              <a:buNone/>
              <a:defRPr sz="2400" b="1" i="0" u="none" strike="noStrike" cap="none">
                <a:solidFill>
                  <a:schemeClr val="dk1"/>
                </a:solidFill>
                <a:latin typeface="Anybody"/>
                <a:ea typeface="Anybody"/>
                <a:cs typeface="Anybody"/>
                <a:sym typeface="Anybody"/>
              </a:defRPr>
            </a:lvl9pPr>
          </a:lstStyle>
          <a:p>
            <a:pPr marL="0" indent="0"/>
            <a:r>
              <a:rPr lang="en-US" sz="1400" dirty="0"/>
              <a:t>Data Modifications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9"/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F90FB877-C41B-120F-2E09-D9B13D86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949" y="1924607"/>
            <a:ext cx="4116102" cy="1110824"/>
          </a:xfrm>
        </p:spPr>
        <p:txBody>
          <a:bodyPr/>
          <a:lstStyle/>
          <a:p>
            <a:r>
              <a:rPr lang="en-US" sz="8800" dirty="0"/>
              <a:t>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5466388B-5D6F-11D7-5558-64BEBD42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96444918-6C65-791A-BA23-1F9633786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649775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Database Creation</a:t>
            </a:r>
            <a:endParaRPr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8AAEB597-31D0-453E-7B8E-8BD61CDD7C3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8A9693F3-B5BE-DDDB-1CFE-A8D504D7F83D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C1B3F1FC-5C6A-EC33-017C-21C802CF2B80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555E868-D8CD-1E2A-E192-5745F26517C3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0CE1802-28B0-6FB5-5874-033472FC6D0F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DF1B57C0-316F-9F24-B67B-877377D2F197}"/>
              </a:ext>
            </a:extLst>
          </p:cNvPr>
          <p:cNvSpPr txBox="1">
            <a:spLocks/>
          </p:cNvSpPr>
          <p:nvPr/>
        </p:nvSpPr>
        <p:spPr>
          <a:xfrm>
            <a:off x="1230497" y="332113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1:</a:t>
            </a:r>
          </a:p>
        </p:txBody>
      </p:sp>
    </p:spTree>
    <p:extLst>
      <p:ext uri="{BB962C8B-B14F-4D97-AF65-F5344CB8AC3E}">
        <p14:creationId xmlns:p14="http://schemas.microsoft.com/office/powerpoint/2010/main" val="256761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/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Database Creation</a:t>
            </a:r>
            <a:endParaRPr dirty="0"/>
          </a:p>
        </p:txBody>
      </p:sp>
      <p:sp>
        <p:nvSpPr>
          <p:cNvPr id="564" name="Google Shape;564;p31"/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87EC9C6-E167-7B29-41D6-032DF9E26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4"/>
          <a:stretch>
            <a:fillRect/>
          </a:stretch>
        </p:blipFill>
        <p:spPr>
          <a:xfrm>
            <a:off x="6834465" y="1817936"/>
            <a:ext cx="1813717" cy="7538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8A5E5F0A-4949-720B-215B-4AE29B76F46D}"/>
              </a:ext>
            </a:extLst>
          </p:cNvPr>
          <p:cNvSpPr/>
          <p:nvPr/>
        </p:nvSpPr>
        <p:spPr>
          <a:xfrm>
            <a:off x="5037233" y="2100568"/>
            <a:ext cx="1526400" cy="188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D930D99-8979-C244-B37D-5D44EB2D3D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3600" y="3054861"/>
            <a:ext cx="5572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Initializes the main database for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Gadget World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tables and data will be created inside this schema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EBE84011-9A15-5BBF-C2F7-AADD9B855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33" t="23636" r="8970" b="22514"/>
          <a:stretch>
            <a:fillRect/>
          </a:stretch>
        </p:blipFill>
        <p:spPr>
          <a:xfrm>
            <a:off x="463715" y="1616955"/>
            <a:ext cx="4312801" cy="10840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E78F7BD6-1D6C-2957-DF6B-8A66D70A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D869658B-EAA5-A347-7606-9FF325561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711695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9B4B432B-B0E2-0FA4-0219-B8739F6002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C7878CF2-0551-AC96-EA2A-3C041000C47E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0F101690-3257-2428-DCCD-BA785B15588F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E0BE37A-1511-40AB-E5E1-10AD146DAD48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5FA012B-2002-F361-8F14-D8260F55D978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8A852322-521F-D0E3-47EC-49EE3F8E3723}"/>
              </a:ext>
            </a:extLst>
          </p:cNvPr>
          <p:cNvSpPr txBox="1">
            <a:spLocks/>
          </p:cNvSpPr>
          <p:nvPr/>
        </p:nvSpPr>
        <p:spPr>
          <a:xfrm>
            <a:off x="1230497" y="332113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1:</a:t>
            </a:r>
          </a:p>
        </p:txBody>
      </p:sp>
    </p:spTree>
    <p:extLst>
      <p:ext uri="{BB962C8B-B14F-4D97-AF65-F5344CB8AC3E}">
        <p14:creationId xmlns:p14="http://schemas.microsoft.com/office/powerpoint/2010/main" val="383348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CF4DF86D-42AC-CA7D-A0DA-4ADE39ED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5BA5977-1FF7-F500-FC0D-A3103AF1D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8917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Visual Representation of Tables and Their Relationships</a:t>
            </a:r>
            <a:endParaRPr sz="18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97022CED-02FA-43FB-9F6A-2A4E8A97A583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01D564E-4CA6-059F-DB12-2167ED55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5" t="4534" r="1312" b="6137"/>
          <a:stretch>
            <a:fillRect/>
          </a:stretch>
        </p:blipFill>
        <p:spPr>
          <a:xfrm>
            <a:off x="771372" y="1489119"/>
            <a:ext cx="7399090" cy="29936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4E64CB-2236-2B4D-7E44-009C36F5F74F}"/>
              </a:ext>
            </a:extLst>
          </p:cNvPr>
          <p:cNvSpPr/>
          <p:nvPr/>
        </p:nvSpPr>
        <p:spPr>
          <a:xfrm>
            <a:off x="7418895" y="4421171"/>
            <a:ext cx="744717" cy="45719"/>
          </a:xfrm>
          <a:prstGeom prst="rect">
            <a:avLst/>
          </a:prstGeom>
          <a:solidFill>
            <a:srgbClr val="FBFBFB"/>
          </a:solidFill>
          <a:ln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7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27D9AC6-E423-A2D6-35B4-C1592723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BD6BEE8-16A0-3556-1273-69EFD303B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039EA21-5B1F-120E-307F-35706615730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C0E510-7102-52DB-8948-8641FFDE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30" t="13585" r="6851" b="13951"/>
          <a:stretch>
            <a:fillRect/>
          </a:stretch>
        </p:blipFill>
        <p:spPr>
          <a:xfrm>
            <a:off x="1052008" y="1733316"/>
            <a:ext cx="6020864" cy="2573301"/>
          </a:xfrm>
          <a:prstGeom prst="roundRect">
            <a:avLst>
              <a:gd name="adj" fmla="val 8364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A1DDE319-77C3-D557-CE7E-13E7B24DB575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Table `Customers`</a:t>
            </a:r>
          </a:p>
        </p:txBody>
      </p:sp>
    </p:spTree>
    <p:extLst>
      <p:ext uri="{BB962C8B-B14F-4D97-AF65-F5344CB8AC3E}">
        <p14:creationId xmlns:p14="http://schemas.microsoft.com/office/powerpoint/2010/main" val="52249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800798A-4252-5485-3860-8F8687C1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2DD2EEC-3A3C-AD89-6CA7-F9532F6778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CCC4334E-D314-9065-709A-6B254EE9B1A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C72E4ACA-7211-57E6-C34D-886BF928E653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Table `Suppliers`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4EF8940-4DA8-3CA6-0304-EECFEEBD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53" t="16874" r="7795" b="17269"/>
          <a:stretch>
            <a:fillRect/>
          </a:stretch>
        </p:blipFill>
        <p:spPr>
          <a:xfrm>
            <a:off x="1130400" y="1917399"/>
            <a:ext cx="5774400" cy="2137068"/>
          </a:xfrm>
          <a:prstGeom prst="roundRect">
            <a:avLst>
              <a:gd name="adj" fmla="val 7536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97324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3DDF63F-46FA-573C-1EB3-3D99EC73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6D09EACA-AAFC-E11F-43F8-DB2FE9B58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6C686FA-CE99-FDCD-E848-F30D442EE57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5840C1F-DCB8-1D49-55FA-679EC2065CA8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Table `Warehouses`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A4F8666-5342-DC87-4636-FCA513619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30" t="19740" r="8504" b="19370"/>
          <a:stretch>
            <a:fillRect/>
          </a:stretch>
        </p:blipFill>
        <p:spPr>
          <a:xfrm>
            <a:off x="999995" y="1900416"/>
            <a:ext cx="6758598" cy="2117184"/>
          </a:xfrm>
          <a:prstGeom prst="roundRect">
            <a:avLst>
              <a:gd name="adj" fmla="val 1229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5367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E189A957-F798-42B6-3EBA-43FC48FA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96B0D19-1737-6453-4892-8368CB242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A5078484-CC18-15E1-9227-6F8B17DC626D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EFE71EFC-836D-73F2-40D5-8C65C273B527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4 - Table `Categories`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23BB001-CD6F-64AE-EB22-D1D362A37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73" t="16874" r="9056" b="17388"/>
          <a:stretch>
            <a:fillRect/>
          </a:stretch>
        </p:blipFill>
        <p:spPr>
          <a:xfrm>
            <a:off x="1000800" y="1890480"/>
            <a:ext cx="6314400" cy="2365871"/>
          </a:xfrm>
          <a:prstGeom prst="roundRect">
            <a:avLst>
              <a:gd name="adj" fmla="val 1374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6094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BB445CF-0F5E-B2A0-9E78-478881829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ACC4AE93-99B7-8893-DA36-63C7B4245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A0CABDC-62C0-E054-066B-95808095E4B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D9C62E7A-4BB0-13DB-2092-3B87D0C780F3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5 - Table `Products`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9AA088-C73E-11AC-72A9-FF74530B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3" t="10778" r="6223" b="10971"/>
          <a:stretch>
            <a:fillRect/>
          </a:stretch>
        </p:blipFill>
        <p:spPr>
          <a:xfrm>
            <a:off x="1058400" y="1763950"/>
            <a:ext cx="5284800" cy="2730317"/>
          </a:xfrm>
          <a:prstGeom prst="roundRect">
            <a:avLst>
              <a:gd name="adj" fmla="val 1168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8384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DAA006A-61A2-5F96-FE08-421F2706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952E64C7-9CE4-11E5-8230-BAA2E1BF37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FA418350-EE47-F697-B8B1-7744547530C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1D360E6-5197-A256-4882-41B4D6C6724C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6 - Table `Inventory`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F751E5-767F-D668-74F6-F1CF1050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3" t="11520" r="6748" b="13574"/>
          <a:stretch>
            <a:fillRect/>
          </a:stretch>
        </p:blipFill>
        <p:spPr>
          <a:xfrm>
            <a:off x="1226634" y="1733316"/>
            <a:ext cx="6690732" cy="2925151"/>
          </a:xfrm>
          <a:prstGeom prst="roundRect">
            <a:avLst>
              <a:gd name="adj" fmla="val 11791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20091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C84DC37-5089-D7FF-AC4B-00715B3A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37CDB9D-558E-5591-4A1E-B3A609A62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55694F2-395B-E70B-A663-2FC0A800D287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BC6C9465-E5CA-2BE9-4B9F-8403BB3C58BF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7 - Table `Reviews`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D63C61-783D-8B49-5153-323D5A85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5" t="10985" r="6840" b="10967"/>
          <a:stretch>
            <a:fillRect/>
          </a:stretch>
        </p:blipFill>
        <p:spPr>
          <a:xfrm>
            <a:off x="1250242" y="1733316"/>
            <a:ext cx="5564986" cy="2931798"/>
          </a:xfrm>
          <a:prstGeom prst="roundRect">
            <a:avLst>
              <a:gd name="adj" fmla="val 1064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2756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81FD168-B4EC-E1E1-F75A-7966B5E1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80381903-D72B-B0B8-C93F-84D8395E6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6CA64A7D-36C7-A733-A8EC-2F73A27B7A0C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01CB5A7-BF42-43FC-C5BB-103DDFFA7D64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8 - Table `Orders`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033CE8-5460-AA57-68D9-BE803DD0F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2" t="13872" r="5372" b="14563"/>
          <a:stretch>
            <a:fillRect/>
          </a:stretch>
        </p:blipFill>
        <p:spPr>
          <a:xfrm>
            <a:off x="949515" y="2097864"/>
            <a:ext cx="7265970" cy="1970699"/>
          </a:xfrm>
          <a:prstGeom prst="roundRect">
            <a:avLst>
              <a:gd name="adj" fmla="val 1690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15571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DECB03D-F133-961F-5CB4-65FFA957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AB45B8E0-3665-9D96-1651-5D7A91EA1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8B9FFF2D-AE3F-7003-192E-12E32D0B28ED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D710F3F3-4181-E2FE-8B79-C6CF1717A393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9 - Table `</a:t>
            </a:r>
            <a:r>
              <a:rPr lang="en-US" b="1" dirty="0" err="1">
                <a:solidFill>
                  <a:schemeClr val="tx2"/>
                </a:solidFill>
              </a:rPr>
              <a:t>Order_Items</a:t>
            </a:r>
            <a:r>
              <a:rPr lang="en-US" b="1" dirty="0">
                <a:solidFill>
                  <a:schemeClr val="tx2"/>
                </a:solidFill>
              </a:rPr>
              <a:t>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C182D6D-4C0D-6FAD-8485-0997DFECE3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91" t="11418" r="6591" b="11834"/>
          <a:stretch>
            <a:fillRect/>
          </a:stretch>
        </p:blipFill>
        <p:spPr>
          <a:xfrm>
            <a:off x="1129990" y="1850016"/>
            <a:ext cx="5154326" cy="2621597"/>
          </a:xfrm>
          <a:prstGeom prst="roundRect">
            <a:avLst>
              <a:gd name="adj" fmla="val 962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18919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9669865-2B33-39F8-A320-B9C28065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2D6858E-C892-B295-2277-167DBA1E55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Creation of Tables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C70211F-7822-9765-BC8E-4970030A0CE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04ABF60-7B3F-5F7A-4A47-49E89B64408A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10 - Table `Payments`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5A9C17-50B6-3439-94DC-DBE2DB248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4" t="13504" r="6748" b="13648"/>
          <a:stretch>
            <a:fillRect/>
          </a:stretch>
        </p:blipFill>
        <p:spPr>
          <a:xfrm>
            <a:off x="1107688" y="1779856"/>
            <a:ext cx="6649844" cy="2698505"/>
          </a:xfrm>
          <a:prstGeom prst="roundRect">
            <a:avLst>
              <a:gd name="adj" fmla="val 1155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6626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867621D1-A2A6-A830-BA48-D25B9A99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1B4C57F2-7066-7E14-AAE0-90352D5A3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722" y="2562935"/>
            <a:ext cx="770705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700D4316-67FF-DDEB-4C62-5F6D3748F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3723" y="169393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A1A5A19C-4A5E-DC0E-B728-D0E5A06A78D6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E0B20ACB-F890-8CA2-AF7E-36714D9835ED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79D91F0-A85E-065B-320F-669636961B3A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8E577AB-604E-7CBA-8FD5-E0D1D9FF9452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DC15837B-7278-0A85-89C1-33ADEFD18E5C}"/>
              </a:ext>
            </a:extLst>
          </p:cNvPr>
          <p:cNvSpPr txBox="1">
            <a:spLocks/>
          </p:cNvSpPr>
          <p:nvPr/>
        </p:nvSpPr>
        <p:spPr>
          <a:xfrm>
            <a:off x="1230497" y="332113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2:</a:t>
            </a:r>
          </a:p>
        </p:txBody>
      </p:sp>
    </p:spTree>
    <p:extLst>
      <p:ext uri="{BB962C8B-B14F-4D97-AF65-F5344CB8AC3E}">
        <p14:creationId xmlns:p14="http://schemas.microsoft.com/office/powerpoint/2010/main" val="2412755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B3CB29D-C199-7C13-0A8F-AF36B4C7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77BA4AF5-2D68-51B1-40C1-4560F36E68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C67E28BC-DB5F-EC58-7BC8-D0B4EA551A3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549E9112-9368-369F-05DB-0C5885418587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Table `Customers`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F1099AB-8B95-33D5-176F-71CF9BE64D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3" t="13282" r="4803" b="13280"/>
          <a:stretch>
            <a:fillRect/>
          </a:stretch>
        </p:blipFill>
        <p:spPr>
          <a:xfrm>
            <a:off x="1034982" y="1733316"/>
            <a:ext cx="7287935" cy="2134577"/>
          </a:xfrm>
          <a:prstGeom prst="roundRect">
            <a:avLst>
              <a:gd name="adj" fmla="val 12351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2328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0DE5B9E6-DCA3-C289-4DEC-087615E3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7BECDDFD-1E69-7CEB-9764-375C31855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13A52D61-67EE-DE6A-08A5-98C77ECB841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A52D4603-D2EF-5CC2-AE7C-6509E06334B2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Table `Suppliers`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9D27730-29BB-9673-507A-8B5215CF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3" t="13890" r="7083" b="14564"/>
          <a:stretch>
            <a:fillRect/>
          </a:stretch>
        </p:blipFill>
        <p:spPr>
          <a:xfrm>
            <a:off x="1000800" y="1712069"/>
            <a:ext cx="6888480" cy="2834079"/>
          </a:xfrm>
          <a:prstGeom prst="roundRect">
            <a:avLst>
              <a:gd name="adj" fmla="val 1240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13530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AB1B0B1-A26E-2304-ABA2-4D9ECAA8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84E8AF3-F623-9053-1FD0-92911D0D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048E273-48A3-D525-F1A4-63824E9701B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129AD669-C44B-8E14-C1BA-2ED85297661B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Table `Warehouses`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1C4186-D943-C9D0-4FE6-3ED30CA0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3" t="17340" r="8165" b="17342"/>
          <a:stretch>
            <a:fillRect/>
          </a:stretch>
        </p:blipFill>
        <p:spPr>
          <a:xfrm>
            <a:off x="1000800" y="1850016"/>
            <a:ext cx="7023060" cy="2360044"/>
          </a:xfrm>
          <a:prstGeom prst="roundRect">
            <a:avLst>
              <a:gd name="adj" fmla="val 1741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3295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D7D764D-7B87-2D9C-2228-F33BEAF0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AEA9C54E-92EC-9E58-FD43-321237558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10238DE0-FC76-A3C5-AF51-B392CD916C6D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2EB99F66-BEBC-73E4-35BC-A2C7F9DA1B89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4 - Table `Categories`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2645522-1229-1A0E-52A4-6DBB517B5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71" t="13185" r="8456" b="12507"/>
          <a:stretch>
            <a:fillRect/>
          </a:stretch>
        </p:blipFill>
        <p:spPr>
          <a:xfrm>
            <a:off x="1204739" y="1758730"/>
            <a:ext cx="4792201" cy="2740756"/>
          </a:xfrm>
          <a:prstGeom prst="roundRect">
            <a:avLst>
              <a:gd name="adj" fmla="val 10746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95719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4CEF932D-8B2D-0BA2-0504-29BDE695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FA48F8E3-0E97-5B5F-ADC9-1BF9C46AC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8575651C-0B4A-3F2C-E8F3-231038572AD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31B6EE75-45FA-21D7-001F-FFC61E32FFD3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5 - Table `Products`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A2F4F9A-0665-F49C-7B86-0ADF5BB57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3" t="12132" r="5499" b="14587"/>
          <a:stretch>
            <a:fillRect/>
          </a:stretch>
        </p:blipFill>
        <p:spPr>
          <a:xfrm>
            <a:off x="1148234" y="1927860"/>
            <a:ext cx="7259385" cy="2217054"/>
          </a:xfrm>
          <a:prstGeom prst="roundRect">
            <a:avLst>
              <a:gd name="adj" fmla="val 1238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769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A5FB459-CFF3-683C-9FC5-91DB2CB8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E965B4E4-7078-D420-0993-3EB884B489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FF0DB6A-2B9F-D99E-212D-34A5F6DA2588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7B11652B-286B-888E-20FF-C3DFBB33B58A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6 - Table `Inventory`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D3ACF8-E271-DFFC-E7D2-10DBD0193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9" t="12641" r="4804" b="13144"/>
          <a:stretch>
            <a:fillRect/>
          </a:stretch>
        </p:blipFill>
        <p:spPr>
          <a:xfrm>
            <a:off x="1110553" y="1953036"/>
            <a:ext cx="7097206" cy="1913148"/>
          </a:xfrm>
          <a:prstGeom prst="roundRect">
            <a:avLst>
              <a:gd name="adj" fmla="val 1332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2090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E74FDDC-C7C3-DDC1-67F5-4F5B5AAC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03CEA54-8C68-B04C-6CD9-DDCCA12AA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2568D297-502E-2261-90B9-E5F893A66469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29C28FED-C92B-1E2F-C870-9067BDC2DACD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7 - Table `Reviews`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F9AB3D-4A8F-8610-72A0-9A42468B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3" t="12422" r="5750" b="15213"/>
          <a:stretch>
            <a:fillRect/>
          </a:stretch>
        </p:blipFill>
        <p:spPr>
          <a:xfrm>
            <a:off x="1065093" y="1733316"/>
            <a:ext cx="7257824" cy="2389428"/>
          </a:xfrm>
          <a:prstGeom prst="roundRect">
            <a:avLst>
              <a:gd name="adj" fmla="val 14355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01454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DF9D2AE-FEDB-60FD-40EC-79CD11B8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AD07925-BFF2-70D8-35E3-D3CDD4A0C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F221402C-9BB9-04E3-6C09-5447E0B94EC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5D9E4991-6F3C-48F7-B580-6FC6EC50FC60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8 - Table `Orders`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617825-6071-D2A9-C0EF-4DFEEC350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49" t="12014" r="7417" b="12227"/>
          <a:stretch>
            <a:fillRect/>
          </a:stretch>
        </p:blipFill>
        <p:spPr>
          <a:xfrm>
            <a:off x="1250320" y="1733316"/>
            <a:ext cx="5799256" cy="2824034"/>
          </a:xfrm>
          <a:prstGeom prst="roundRect">
            <a:avLst>
              <a:gd name="adj" fmla="val 11544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39657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3A669E1-CB1C-E6F6-A635-D6AEBEB5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F85C830-AEF6-0F01-6704-59E8C0082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72DEA85-EDF6-57D2-616B-FC2F97D58D2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E39BE592-AB88-0832-870C-822F928F273D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9 - Table `</a:t>
            </a:r>
            <a:r>
              <a:rPr lang="en-US" b="1" dirty="0" err="1">
                <a:solidFill>
                  <a:schemeClr val="tx2"/>
                </a:solidFill>
              </a:rPr>
              <a:t>Order_Items</a:t>
            </a:r>
            <a:r>
              <a:rPr lang="en-US" b="1" dirty="0">
                <a:solidFill>
                  <a:schemeClr val="tx2"/>
                </a:solidFill>
              </a:rPr>
              <a:t>`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825D94-90E0-567F-FB10-CE70191A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9" t="12563" r="6334" b="14836"/>
          <a:stretch>
            <a:fillRect/>
          </a:stretch>
        </p:blipFill>
        <p:spPr>
          <a:xfrm>
            <a:off x="1000800" y="1857816"/>
            <a:ext cx="6896100" cy="2497097"/>
          </a:xfrm>
          <a:prstGeom prst="roundRect">
            <a:avLst>
              <a:gd name="adj" fmla="val 1361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69858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8086303-EB88-9806-F51D-BE77495D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78C21516-4E95-9104-D64D-101861EA5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Insertion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A98D0A02-A5DF-6661-6A00-E4A140DA845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5181279-C34F-AF68-0525-37AB314575A0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10 - Table `Payments`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83C6D9-E337-D866-DDD2-D29EE86EE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3" t="12150" r="6016" b="14269"/>
          <a:stretch>
            <a:fillRect/>
          </a:stretch>
        </p:blipFill>
        <p:spPr>
          <a:xfrm>
            <a:off x="1070158" y="1945324"/>
            <a:ext cx="7024683" cy="25341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49308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559D9E35-ED37-F357-09D5-CCE2C2A62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26EEEABF-5E9A-5814-4C37-1ED1C9C8B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722" y="2562935"/>
            <a:ext cx="770705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Data Verification</a:t>
            </a:r>
            <a:endParaRPr sz="400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70D94135-2593-7B5B-FD47-91C03B887B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3723" y="169393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076207FE-6C59-7AD5-46B7-FFE31B502501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A393FAFB-A345-22C3-7206-9649646BA19E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369EF3D-4B53-B2EB-5613-F4B70318D283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DADD726-37DD-547F-C41D-F28BC3A99216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Google Shape;507;p26">
            <a:extLst>
              <a:ext uri="{FF2B5EF4-FFF2-40B4-BE49-F238E27FC236}">
                <a16:creationId xmlns:a16="http://schemas.microsoft.com/office/drawing/2014/main" id="{3783F45C-EAEA-A514-0C68-B6A7FB772A24}"/>
              </a:ext>
            </a:extLst>
          </p:cNvPr>
          <p:cNvSpPr txBox="1">
            <a:spLocks/>
          </p:cNvSpPr>
          <p:nvPr/>
        </p:nvSpPr>
        <p:spPr>
          <a:xfrm>
            <a:off x="1230497" y="332113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3:</a:t>
            </a:r>
          </a:p>
        </p:txBody>
      </p:sp>
    </p:spTree>
    <p:extLst>
      <p:ext uri="{BB962C8B-B14F-4D97-AF65-F5344CB8AC3E}">
        <p14:creationId xmlns:p14="http://schemas.microsoft.com/office/powerpoint/2010/main" val="1396196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62B8D08-8065-FB19-D0FC-C48CBA12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29D22FEB-DBE1-51BA-13CB-B4C29009A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B60B502-880E-E686-88B7-CFB9DD00AC00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C240EB8-B1BF-6F20-8E6A-36986FB69D52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074539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List all products supplied by “Supplier X”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D85513F-A220-32EC-D0BC-066DB0E0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6" t="18694" r="8250" b="18694"/>
          <a:stretch>
            <a:fillRect/>
          </a:stretch>
        </p:blipFill>
        <p:spPr>
          <a:xfrm>
            <a:off x="680057" y="2019666"/>
            <a:ext cx="7092343" cy="2246547"/>
          </a:xfrm>
          <a:prstGeom prst="roundRect">
            <a:avLst>
              <a:gd name="adj" fmla="val 11721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56517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30A6590-9A6E-B7A1-1472-F1A689D0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D48966D7-236E-D32C-F42D-1CFD7C321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FF726EDB-7EAF-D76D-4B58-2CBDAF6CB4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1953752"/>
              </p:ext>
            </p:extLst>
          </p:nvPr>
        </p:nvGraphicFramePr>
        <p:xfrm>
          <a:off x="2895850" y="2189825"/>
          <a:ext cx="2813626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45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price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Wireless Mouse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19.99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B3CC53E2-5466-211C-9408-24B6BCCB9DD9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074539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List all products supplied by “Supplier X”</a:t>
            </a:r>
          </a:p>
        </p:txBody>
      </p:sp>
    </p:spTree>
    <p:extLst>
      <p:ext uri="{BB962C8B-B14F-4D97-AF65-F5344CB8AC3E}">
        <p14:creationId xmlns:p14="http://schemas.microsoft.com/office/powerpoint/2010/main" val="4108389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0C1E2EED-07E2-DCCA-7059-45C4CF22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9D650337-B9F9-B95A-05DE-07B7D40B0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912B6BFF-E0BE-79B5-72A5-A1729D2262B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41DE5DBC-5883-6B94-8938-5A8C091E3CA6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Show full order history of a customer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951FA0-28FC-1ED7-C86F-D2024077C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3" t="20341" r="8334" b="18694"/>
          <a:stretch>
            <a:fillRect/>
          </a:stretch>
        </p:blipFill>
        <p:spPr>
          <a:xfrm>
            <a:off x="891540" y="2019666"/>
            <a:ext cx="7078980" cy="2183358"/>
          </a:xfrm>
          <a:prstGeom prst="roundRect">
            <a:avLst>
              <a:gd name="adj" fmla="val 13541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84712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909B4238-49D0-A644-2809-6CC3FCC7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F06789F7-7369-106C-209F-D55846A2C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77D11931-4BC5-9440-5888-2584449FD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7467548"/>
              </p:ext>
            </p:extLst>
          </p:nvPr>
        </p:nvGraphicFramePr>
        <p:xfrm>
          <a:off x="2702904" y="1733316"/>
          <a:ext cx="3738191" cy="22973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9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O</a:t>
                      </a:r>
                      <a:r>
                        <a:rPr lang="en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rder_id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order_date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status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2024-06-02 10:15:00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Anybody"/>
                          <a:ea typeface="Arial"/>
                          <a:cs typeface="Arial"/>
                          <a:sym typeface="Arial"/>
                        </a:rPr>
                        <a:t>Delevered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Anybody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46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2024-04-01 10:00:00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</a:t>
                      </a:r>
                      <a:r>
                        <a:rPr lang="en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elevered 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91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2024-03-01 10:00:00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Delevered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136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2024-02-05 10:20:00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Delevered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181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2024-01-20 10:00:00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rial"/>
                          <a:cs typeface="Arial"/>
                          <a:sym typeface="Arial"/>
                        </a:rPr>
                        <a:t>Shipped 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Anybody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64937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5E422B4B-967D-8FB0-EE6B-786335B270FB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5817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Show full order history of a customer</a:t>
            </a:r>
          </a:p>
        </p:txBody>
      </p:sp>
    </p:spTree>
    <p:extLst>
      <p:ext uri="{BB962C8B-B14F-4D97-AF65-F5344CB8AC3E}">
        <p14:creationId xmlns:p14="http://schemas.microsoft.com/office/powerpoint/2010/main" val="1828768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B3DB285-197F-7CEA-8395-8587940A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E1D42CC-9F1E-4FE1-32A4-24F58F267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A3774215-6F01-5080-6DB1-0C29F6C88AD6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D9B82E52-1658-BA64-C12C-63386D9F39ED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87149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Display “Electronics” products with average rating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D7A8EA0-F369-97A3-A127-70D7833B8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67" t="15064" r="8081" b="16443"/>
          <a:stretch>
            <a:fillRect/>
          </a:stretch>
        </p:blipFill>
        <p:spPr>
          <a:xfrm>
            <a:off x="1097280" y="1887116"/>
            <a:ext cx="6263820" cy="2483984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77971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B620D981-1311-DBF0-0538-DBADD319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5ACF79D4-7CFC-6C50-2618-FAE7CCCDE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BE95032B-8B60-9610-7F16-27F276DCC8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9763414"/>
              </p:ext>
            </p:extLst>
          </p:nvPr>
        </p:nvGraphicFramePr>
        <p:xfrm>
          <a:off x="2759465" y="1866582"/>
          <a:ext cx="3821688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245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AVG_rating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'Wireless Bluetooth Headphones'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2,7500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1C957527-FB43-96E6-8840-C9AA6FFFF45B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87149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Display “Electronics” products with average rating</a:t>
            </a:r>
          </a:p>
        </p:txBody>
      </p:sp>
    </p:spTree>
    <p:extLst>
      <p:ext uri="{BB962C8B-B14F-4D97-AF65-F5344CB8AC3E}">
        <p14:creationId xmlns:p14="http://schemas.microsoft.com/office/powerpoint/2010/main" val="53483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C501DEC-329E-6695-CAD5-FFBFD4E7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B432965-ED9A-B2AA-E2FF-3510C73B9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706165A2-D0A9-AD22-1E5A-FDFE9A67B61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83563C99-94B9-97A6-286A-ACB878ED28DE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787605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4 - Show items in Order #10 (name, qty, line total)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FBBD466-F3BC-E385-159F-5B51EA23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67" t="18486" r="5667" b="18486"/>
          <a:stretch>
            <a:fillRect/>
          </a:stretch>
        </p:blipFill>
        <p:spPr>
          <a:xfrm>
            <a:off x="1089660" y="2019666"/>
            <a:ext cx="7189326" cy="1486931"/>
          </a:xfrm>
          <a:prstGeom prst="roundRect">
            <a:avLst>
              <a:gd name="adj" fmla="val 14164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31220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0C678D8-55C0-43FF-F904-FA7F254A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98BDA426-ADED-5258-7273-F01B6D9B2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7D60C699-C52B-E98B-8955-B06B18455A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8424725"/>
              </p:ext>
            </p:extLst>
          </p:nvPr>
        </p:nvGraphicFramePr>
        <p:xfrm>
          <a:off x="2429854" y="2124726"/>
          <a:ext cx="4284291" cy="16839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9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quantity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</a:t>
                      </a:r>
                      <a:r>
                        <a:rPr lang="en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otal_price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Facial Moisturizer Cream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29.99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Shampoo Organic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18.99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Electric Toothbrush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79.99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Car Floor Mats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199.99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C209667C-FADA-6124-6986-A96F54A73603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787605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4 - Show items in Order #10 (name, qty, line total)</a:t>
            </a:r>
          </a:p>
        </p:txBody>
      </p:sp>
    </p:spTree>
    <p:extLst>
      <p:ext uri="{BB962C8B-B14F-4D97-AF65-F5344CB8AC3E}">
        <p14:creationId xmlns:p14="http://schemas.microsoft.com/office/powerpoint/2010/main" val="3917544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B89B9AE-8088-C723-3D1F-8C1B7DB47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21CFDF8-835B-436D-E73D-A3CE4830E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CE02CA0-0091-908D-ACBC-FA2D1BD7730C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4958A78B-7CCE-276F-82A7-068371D23F23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56949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5 - Find total stock quantity across warehouses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03C660-0A1A-03E0-836A-87480FC65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34" t="17340" r="7915" b="17342"/>
          <a:stretch>
            <a:fillRect/>
          </a:stretch>
        </p:blipFill>
        <p:spPr>
          <a:xfrm>
            <a:off x="944880" y="1850016"/>
            <a:ext cx="6812460" cy="2289273"/>
          </a:xfrm>
          <a:prstGeom prst="roundRect">
            <a:avLst>
              <a:gd name="adj" fmla="val 1299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19241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6E9C0FAA-0162-121D-43BF-BB35172B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E35FEE25-E106-0756-F3F8-8ECC534FF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EAC486BF-DA55-AD52-4986-A302C934F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526735"/>
              </p:ext>
            </p:extLst>
          </p:nvPr>
        </p:nvGraphicFramePr>
        <p:xfrm>
          <a:off x="3102481" y="2019485"/>
          <a:ext cx="2939038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57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Total_stock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Digital camera DSLR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65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95B8E23F-7359-5FC5-D5A7-4D3D523B2719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56949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5 - Find total stock quantity across warehouses</a:t>
            </a:r>
          </a:p>
        </p:txBody>
      </p:sp>
    </p:spTree>
    <p:extLst>
      <p:ext uri="{BB962C8B-B14F-4D97-AF65-F5344CB8AC3E}">
        <p14:creationId xmlns:p14="http://schemas.microsoft.com/office/powerpoint/2010/main" val="1821765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63364FA-1F03-E31A-E0DB-0F1ABF45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AB708C9-BCF8-66AA-9AFB-282645B61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71BF7C07-2084-FDA1-C877-241BF0F1B8A3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4FC84CE-401E-D2E7-A126-1C4E857D7524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215443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6 - Customers who purchased from &gt; 3 categories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08B587-D5DC-C617-6CDD-AA2763D6F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16" t="13158" r="8331" b="15285"/>
          <a:stretch>
            <a:fillRect/>
          </a:stretch>
        </p:blipFill>
        <p:spPr>
          <a:xfrm>
            <a:off x="1082716" y="1850016"/>
            <a:ext cx="6114464" cy="2748789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47879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731686F-44F8-46F0-D2B2-9B5CEA21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C7094F3E-100D-9129-F258-F7C30341A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C337BC24-2521-32D7-B3F4-1B7919BA12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1159025"/>
              </p:ext>
            </p:extLst>
          </p:nvPr>
        </p:nvGraphicFramePr>
        <p:xfrm>
          <a:off x="3067556" y="1789489"/>
          <a:ext cx="3008888" cy="16839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4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Cunstomer_id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John Smith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Emma Johnson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1603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3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Michael Brown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08599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7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James Taylor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721012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81A12A56-3CA6-DB8B-3D63-F5FF9B999EE7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215443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6 - Customers who purchased from &gt; 3 categories</a:t>
            </a:r>
          </a:p>
        </p:txBody>
      </p:sp>
    </p:spTree>
    <p:extLst>
      <p:ext uri="{BB962C8B-B14F-4D97-AF65-F5344CB8AC3E}">
        <p14:creationId xmlns:p14="http://schemas.microsoft.com/office/powerpoint/2010/main" val="4181062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55F8D4BB-0736-886A-2EEB-69DECE30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F438C757-FFC4-3823-4596-5422282A13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E4BE10D0-B28C-087D-D73B-709A58D7FF8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D07B409-850B-02C6-F10C-ED44099F5D38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37483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7 - Products rated &lt; 2 stars but sold at least once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66911B0-02B6-B2DD-E95D-3EBA1050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00" t="16002" r="8248" b="16002"/>
          <a:stretch>
            <a:fillRect/>
          </a:stretch>
        </p:blipFill>
        <p:spPr>
          <a:xfrm>
            <a:off x="1068742" y="1850016"/>
            <a:ext cx="7027516" cy="2730758"/>
          </a:xfrm>
          <a:prstGeom prst="roundRect">
            <a:avLst>
              <a:gd name="adj" fmla="val 1384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27619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9385719-F6B0-2BB2-C179-A2C1E313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59DD1BD3-1B84-74F1-FF31-E79AA3C486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597E410D-A574-0D7D-FCDE-9E4AC90FE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245914"/>
              </p:ext>
            </p:extLst>
          </p:nvPr>
        </p:nvGraphicFramePr>
        <p:xfrm>
          <a:off x="3266787" y="1930891"/>
          <a:ext cx="2610426" cy="802882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45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Avg_rating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732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none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657328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CD23F295-7562-CF7B-776C-6D315BE4DCD8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37483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7 - Products rated &lt; 2 stars but sold at least once</a:t>
            </a:r>
          </a:p>
        </p:txBody>
      </p:sp>
    </p:spTree>
    <p:extLst>
      <p:ext uri="{BB962C8B-B14F-4D97-AF65-F5344CB8AC3E}">
        <p14:creationId xmlns:p14="http://schemas.microsoft.com/office/powerpoint/2010/main" val="33075070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AFEE54D-17F7-EC1F-DE38-B11BE712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7FE55019-B703-385E-ABC1-444FD96C3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A4B6325-366D-6ACE-F1AE-CB38F2B92F68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D6E682C0-CC77-0380-C0A7-20B3DECE5FA6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166818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8 - Total revenue generated by each category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0B88253-FE9F-2935-E75A-49A83D67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33" t="19598" r="6000" b="18286"/>
          <a:stretch>
            <a:fillRect/>
          </a:stretch>
        </p:blipFill>
        <p:spPr>
          <a:xfrm>
            <a:off x="1094760" y="2105831"/>
            <a:ext cx="7516080" cy="1760203"/>
          </a:xfrm>
          <a:prstGeom prst="roundRect">
            <a:avLst>
              <a:gd name="adj" fmla="val 1345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791210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A0740C50-04BC-C701-7997-001F8331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ECBFC04E-104B-450C-ECF4-BF2C1E5AB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6B75AFAF-BDBD-5657-7BF6-97F8828DA8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602125"/>
              </p:ext>
            </p:extLst>
          </p:nvPr>
        </p:nvGraphicFramePr>
        <p:xfrm>
          <a:off x="2888962" y="1978025"/>
          <a:ext cx="3366076" cy="19906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75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category_name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total_revenue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Electronics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719.92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Computers &amp; Laptops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3649.93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1603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Mobile Phones'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10399.92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508599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Home &amp; Kitchen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1199.94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72101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096353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1C352441-A491-29B0-1E4F-F23FE0E1E106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166818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8 - Total revenue generated by each category </a:t>
            </a:r>
          </a:p>
        </p:txBody>
      </p:sp>
    </p:spTree>
    <p:extLst>
      <p:ext uri="{BB962C8B-B14F-4D97-AF65-F5344CB8AC3E}">
        <p14:creationId xmlns:p14="http://schemas.microsoft.com/office/powerpoint/2010/main" val="2759288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816A072-D5FE-856A-99E8-A06D48AA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0686395-B579-3E16-89B0-818ACD5C4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60B70FB5-1BC4-DB2B-D42D-DB97EC8D961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A17177D5-4FF3-4C28-FFED-413D70A4F6AB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95709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9 - Warehouse with most unique products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ACDB3D-4E68-158F-9466-D4A22668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83" t="16074" r="5750" b="16578"/>
          <a:stretch>
            <a:fillRect/>
          </a:stretch>
        </p:blipFill>
        <p:spPr>
          <a:xfrm>
            <a:off x="1000800" y="2063315"/>
            <a:ext cx="7353300" cy="1845236"/>
          </a:xfrm>
          <a:prstGeom prst="roundRect">
            <a:avLst>
              <a:gd name="adj" fmla="val 1502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3238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C5BC9C6C-FB9F-82D5-C3ED-6BF1CE73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9061EB7C-6BC5-C8D1-14D8-3A4298FD8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DB6FB16E-C801-28D0-EE96-6959280D96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7444079"/>
              </p:ext>
            </p:extLst>
          </p:nvPr>
        </p:nvGraphicFramePr>
        <p:xfrm>
          <a:off x="1553730" y="2043570"/>
          <a:ext cx="6036539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41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8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288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warehouse_id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warehouse_location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unique_products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Newark, NJ - East Coast Distribution Center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50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B9E3FF68-66EB-1BD1-4876-6A0E3126AD45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395709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9 - Warehouse with most unique products</a:t>
            </a:r>
          </a:p>
        </p:txBody>
      </p:sp>
    </p:spTree>
    <p:extLst>
      <p:ext uri="{BB962C8B-B14F-4D97-AF65-F5344CB8AC3E}">
        <p14:creationId xmlns:p14="http://schemas.microsoft.com/office/powerpoint/2010/main" val="3355839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D6A60C0-8DE8-8194-9A32-3CF22ECC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63E4856-CB04-00E6-DEDC-8E9E140A7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CAA9935-3B21-222C-A57C-7532458C1F4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6A0256C1-13AC-FED6-C4F6-250C37252058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589495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10 - Customers spending &gt; $500 and giving ≥ 1 five-star review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6DC1660-BAFD-384B-B46E-F56D01F1A8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6" t="14018" r="5500" b="14018"/>
          <a:stretch>
            <a:fillRect/>
          </a:stretch>
        </p:blipFill>
        <p:spPr>
          <a:xfrm>
            <a:off x="902216" y="2163955"/>
            <a:ext cx="7711144" cy="2291753"/>
          </a:xfrm>
          <a:prstGeom prst="roundRect">
            <a:avLst>
              <a:gd name="adj" fmla="val 12665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5412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AD2F53B1-01ED-2ED1-23C4-0039741D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EB419CF7-1895-3FAF-30E2-F72349155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0F699A36-D098-3DAB-4407-8B29CC527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2425417"/>
              </p:ext>
            </p:extLst>
          </p:nvPr>
        </p:nvGraphicFramePr>
        <p:xfrm>
          <a:off x="2516549" y="1777325"/>
          <a:ext cx="4110901" cy="26040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29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725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total_spent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John Smith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16679.16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Emma Johnson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sym typeface="Arial"/>
                        </a:rPr>
                        <a:t>3994.88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811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3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Michael Brown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sym typeface="Arial"/>
                        </a:rPr>
                        <a:t>21335.36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95378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4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Sarah Davis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sym typeface="Arial"/>
                        </a:rPr>
                        <a:t>643.85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9098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5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David Wilson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sym typeface="Arial"/>
                        </a:rPr>
                        <a:t>9974.58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447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6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James Taylor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sym typeface="Arial"/>
                        </a:rPr>
                        <a:t>4229.88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255979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567168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74D473EF-51F5-6230-DC86-CAE1259C8DC1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589495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10 - Customers spending &gt; $500 and giving ≥ 1 five-star review</a:t>
            </a:r>
          </a:p>
        </p:txBody>
      </p:sp>
    </p:spTree>
    <p:extLst>
      <p:ext uri="{BB962C8B-B14F-4D97-AF65-F5344CB8AC3E}">
        <p14:creationId xmlns:p14="http://schemas.microsoft.com/office/powerpoint/2010/main" val="2887072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AB71598-38BE-A83D-536E-DC1EA9DB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95864E3-B662-525C-EA08-EF822F92D0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A20F80CC-A587-C9C5-3E58-30AF9B06D2C0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E7D30C1C-6319-92C5-B29A-38FFCFF07762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485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11 - Revenue per month for current year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39E42FA-3C66-0689-65B9-B15CC3CA4B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6" t="16815" r="4803" b="16814"/>
          <a:stretch>
            <a:fillRect/>
          </a:stretch>
        </p:blipFill>
        <p:spPr>
          <a:xfrm>
            <a:off x="617130" y="2268341"/>
            <a:ext cx="7909740" cy="1597843"/>
          </a:xfrm>
          <a:prstGeom prst="roundRect">
            <a:avLst>
              <a:gd name="adj" fmla="val 15073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24047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D44FC53B-7E1C-A786-9F5A-0B37D39E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09573E21-026E-83B6-934F-026E2A9DD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9D370571-E492-A814-945F-62FDD519BB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741641"/>
              </p:ext>
            </p:extLst>
          </p:nvPr>
        </p:nvGraphicFramePr>
        <p:xfrm>
          <a:off x="3305681" y="2053440"/>
          <a:ext cx="2532638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85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mounth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Mounthly_revenu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2025-10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269.96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9A9531C1-E577-712B-1814-CDE096FCAE0B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485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11 - Revenue per month for current year</a:t>
            </a:r>
          </a:p>
        </p:txBody>
      </p:sp>
    </p:spTree>
    <p:extLst>
      <p:ext uri="{BB962C8B-B14F-4D97-AF65-F5344CB8AC3E}">
        <p14:creationId xmlns:p14="http://schemas.microsoft.com/office/powerpoint/2010/main" val="39787012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3B342F7-A47A-FC60-2514-D9C6FCE4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709D34F-BD73-D1A4-7BBC-A92528C7D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F797803C-1A55-7538-1C20-2480A13791C0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76B1C1C3-7C59-2635-EE8A-45D455727E75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468822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12 - Top 3 products by profit (revenue – cost)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FF3352E-322B-4583-0425-342C3FA9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6" t="15955" r="6417" b="15953"/>
          <a:stretch>
            <a:fillRect/>
          </a:stretch>
        </p:blipFill>
        <p:spPr>
          <a:xfrm>
            <a:off x="1000800" y="2019666"/>
            <a:ext cx="6758940" cy="2201655"/>
          </a:xfrm>
          <a:prstGeom prst="roundRect">
            <a:avLst>
              <a:gd name="adj" fmla="val 13586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2817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E30C83FD-DDEB-77CD-4B88-2E9C389A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B85C2617-73FD-4746-E9DF-A895C1E42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EB545D38-8FF8-F6A2-AF3B-5D8C9619E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447670"/>
              </p:ext>
            </p:extLst>
          </p:nvPr>
        </p:nvGraphicFramePr>
        <p:xfrm>
          <a:off x="2430824" y="1883125"/>
          <a:ext cx="4282351" cy="13772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45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475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Product_name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revenue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profit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Laptop Gaming Pro</a:t>
                      </a:r>
                      <a:endParaRPr sz="1000" b="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10399.92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'4159.968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Smartphone X12</a:t>
                      </a:r>
                      <a:endParaRPr sz="1000" b="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6299.93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'2519.972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86937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Digital Camera DSLR</a:t>
                      </a:r>
                      <a:endParaRPr sz="1000" b="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5249.93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'2099.972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729559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40985278-AA48-ED86-2B51-318B5C2597B7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468822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12 - Top 3 products by profit (revenue – cost)</a:t>
            </a:r>
          </a:p>
        </p:txBody>
      </p:sp>
    </p:spTree>
    <p:extLst>
      <p:ext uri="{BB962C8B-B14F-4D97-AF65-F5344CB8AC3E}">
        <p14:creationId xmlns:p14="http://schemas.microsoft.com/office/powerpoint/2010/main" val="442675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9EFD647-0ADB-68DC-284C-453CD213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2DED230-FEFC-A0E4-8277-F07748AB8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E0565E9-B2E8-77AA-5DCE-71256876C927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6A964FA1-6D84-7B3A-584E-77075608E512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158429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13 - Customer who placed the most orders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FE10592-C900-1D6E-21EA-876C6459D1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7" t="17713" r="6833" b="17487"/>
          <a:stretch>
            <a:fillRect/>
          </a:stretch>
        </p:blipFill>
        <p:spPr>
          <a:xfrm>
            <a:off x="1000799" y="1833596"/>
            <a:ext cx="7063740" cy="1948618"/>
          </a:xfrm>
          <a:prstGeom prst="roundRect">
            <a:avLst>
              <a:gd name="adj" fmla="val 9028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75276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8ABE521-C413-0AD3-7B42-4EB25B90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93D324B3-FE59-7E64-E203-85374583B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791D9FBC-B7A6-AB3A-90C9-760A924F45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83450"/>
              </p:ext>
            </p:extLst>
          </p:nvPr>
        </p:nvGraphicFramePr>
        <p:xfrm>
          <a:off x="2240324" y="1866582"/>
          <a:ext cx="4663351" cy="7638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30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475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total_orders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John Smith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8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A9CB2176-AC68-8354-694F-63383A2880FD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4158429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13 - Customer who placed the most orders</a:t>
            </a:r>
          </a:p>
        </p:txBody>
      </p:sp>
    </p:spTree>
    <p:extLst>
      <p:ext uri="{BB962C8B-B14F-4D97-AF65-F5344CB8AC3E}">
        <p14:creationId xmlns:p14="http://schemas.microsoft.com/office/powerpoint/2010/main" val="18465614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0C9924A-FC9C-41D7-80E2-A52F2684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F8D291C-715F-96A9-1A67-81D83399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6A855B93-B0CD-54A0-BEF2-83C2BC2ABB55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D425BCB9-2648-C295-440D-E47410CD5FF3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552712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14 - Suppliers with #products and avg. ratings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A9ABB0D-3B3A-C70B-0221-4F4DFA21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84" t="18612" r="4803" b="18612"/>
          <a:stretch>
            <a:fillRect/>
          </a:stretch>
        </p:blipFill>
        <p:spPr>
          <a:xfrm>
            <a:off x="518160" y="2105345"/>
            <a:ext cx="7536180" cy="1533643"/>
          </a:xfrm>
          <a:prstGeom prst="roundRect">
            <a:avLst>
              <a:gd name="adj" fmla="val 1461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397304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468D0E81-DA2A-6A03-9893-EF2AFE86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303076B8-75E5-62CE-EE3D-2AB3666C4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0C868842-4B40-B597-DA0E-BBE083C09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691379"/>
              </p:ext>
            </p:extLst>
          </p:nvPr>
        </p:nvGraphicFramePr>
        <p:xfrm>
          <a:off x="1906156" y="1963137"/>
          <a:ext cx="5331688" cy="22973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19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475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Sipplier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-name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Num_products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AVG_rating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TechSource</a:t>
                      </a: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 Inc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32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'3.5667'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Global Electronics Ltd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10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3.8000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1182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Fashion Wholesale Co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16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4.3750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74015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HomeGoods Distributors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45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4.4444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74224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Sports Equipment Pro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7</a:t>
                      </a:r>
                      <a:endParaRPr sz="12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4.7143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24354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…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498036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C849E55A-2584-BAD6-6E97-FC969DCDC11E}"/>
              </a:ext>
            </a:extLst>
          </p:cNvPr>
          <p:cNvSpPr txBox="1">
            <a:spLocks/>
          </p:cNvSpPr>
          <p:nvPr/>
        </p:nvSpPr>
        <p:spPr>
          <a:xfrm>
            <a:off x="1000800" y="1277316"/>
            <a:ext cx="4552712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14 - Suppliers with #products and avg. ratings</a:t>
            </a:r>
          </a:p>
        </p:txBody>
      </p:sp>
    </p:spTree>
    <p:extLst>
      <p:ext uri="{BB962C8B-B14F-4D97-AF65-F5344CB8AC3E}">
        <p14:creationId xmlns:p14="http://schemas.microsoft.com/office/powerpoint/2010/main" val="472509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B4D831B-7AE9-36F5-C511-17B9937C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74D2F84-38D9-BA7E-876D-6E0EA50C7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Data Verification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5591492C-61FD-8644-C150-BCD1FE568DB7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2E4BD93F-0C4F-3373-6D86-32418766AEE6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5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15 - Pending orders &gt; 3 days with customer contact info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BFEC657-6854-37B9-9CCB-F583E55AF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0" t="19436" r="6001" b="19592"/>
          <a:stretch>
            <a:fillRect/>
          </a:stretch>
        </p:blipFill>
        <p:spPr>
          <a:xfrm>
            <a:off x="537210" y="2191454"/>
            <a:ext cx="7852410" cy="1627578"/>
          </a:xfrm>
          <a:prstGeom prst="roundRect">
            <a:avLst>
              <a:gd name="adj" fmla="val 14645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947187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961FD12E-A426-29EF-2066-8BF30997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4">
            <a:extLst>
              <a:ext uri="{FF2B5EF4-FFF2-40B4-BE49-F238E27FC236}">
                <a16:creationId xmlns:a16="http://schemas.microsoft.com/office/drawing/2014/main" id="{091C68B8-9D0B-611B-8DE7-4DDCB3ADB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621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Output:</a:t>
            </a:r>
            <a:endParaRPr dirty="0"/>
          </a:p>
        </p:txBody>
      </p:sp>
      <p:graphicFrame>
        <p:nvGraphicFramePr>
          <p:cNvPr id="795" name="Google Shape;795;p44">
            <a:extLst>
              <a:ext uri="{FF2B5EF4-FFF2-40B4-BE49-F238E27FC236}">
                <a16:creationId xmlns:a16="http://schemas.microsoft.com/office/drawing/2014/main" id="{A4670856-7A41-A1A1-7B94-C956915023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925350"/>
              </p:ext>
            </p:extLst>
          </p:nvPr>
        </p:nvGraphicFramePr>
        <p:xfrm>
          <a:off x="554906" y="2035158"/>
          <a:ext cx="8034188" cy="1377250"/>
        </p:xfrm>
        <a:graphic>
          <a:graphicData uri="http://schemas.openxmlformats.org/drawingml/2006/table">
            <a:tbl>
              <a:tblPr>
                <a:noFill/>
                <a:tableStyleId>{07959D03-E936-41F9-A3E5-71B3CAF5F963}</a:tableStyleId>
              </a:tblPr>
              <a:tblGrid>
                <a:gridCol w="97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838">
                  <a:extLst>
                    <a:ext uri="{9D8B030D-6E8A-4147-A177-3AD203B41FA5}">
                      <a16:colId xmlns:a16="http://schemas.microsoft.com/office/drawing/2014/main" val="2807022259"/>
                    </a:ext>
                  </a:extLst>
                </a:gridCol>
                <a:gridCol w="1484600">
                  <a:extLst>
                    <a:ext uri="{9D8B030D-6E8A-4147-A177-3AD203B41FA5}">
                      <a16:colId xmlns:a16="http://schemas.microsoft.com/office/drawing/2014/main" val="2703326374"/>
                    </a:ext>
                  </a:extLst>
                </a:gridCol>
                <a:gridCol w="2614900">
                  <a:extLst>
                    <a:ext uri="{9D8B030D-6E8A-4147-A177-3AD203B41FA5}">
                      <a16:colId xmlns:a16="http://schemas.microsoft.com/office/drawing/2014/main" val="3213049852"/>
                    </a:ext>
                  </a:extLst>
                </a:gridCol>
              </a:tblGrid>
              <a:tr h="45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order_id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Order_date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Customer_name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email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Shopping_addresse</a:t>
                      </a:r>
                      <a:endParaRPr sz="12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63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2024-04-15 09:35:00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Susan Young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syoung@email.com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147 Redwood Ave, Seattle, WA 98101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64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2024-04-18 16:50:00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Joseph Hall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jhall@email.com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258 Cypress St, Denver, CO 80201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811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200</a:t>
                      </a:r>
                      <a:endParaRPr sz="1000" b="1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'2024-07-15 11:30:00'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Gary Murphy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gmurphy@email.com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ybody"/>
                          <a:ea typeface="Anybody"/>
                          <a:cs typeface="Anybody"/>
                          <a:sym typeface="Anybody"/>
                        </a:rPr>
                        <a:t>963 Pinewood Dr, Minneapolis, MN 55401</a:t>
                      </a:r>
                      <a:endParaRPr sz="1000" dirty="0">
                        <a:solidFill>
                          <a:schemeClr val="dk1"/>
                        </a:solidFill>
                        <a:latin typeface="Anybody"/>
                        <a:ea typeface="Anybody"/>
                        <a:cs typeface="Anybody"/>
                        <a:sym typeface="Anybody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953786"/>
                  </a:ext>
                </a:extLst>
              </a:tr>
            </a:tbl>
          </a:graphicData>
        </a:graphic>
      </p:graphicFrame>
      <p:sp>
        <p:nvSpPr>
          <p:cNvPr id="2" name="Google Shape;586;p33">
            <a:extLst>
              <a:ext uri="{FF2B5EF4-FFF2-40B4-BE49-F238E27FC236}">
                <a16:creationId xmlns:a16="http://schemas.microsoft.com/office/drawing/2014/main" id="{B4F560AB-4CCC-FF15-FB16-4473BC1CE007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5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15 - Pending orders &gt; 3 days with customer contact info</a:t>
            </a:r>
          </a:p>
        </p:txBody>
      </p:sp>
    </p:spTree>
    <p:extLst>
      <p:ext uri="{BB962C8B-B14F-4D97-AF65-F5344CB8AC3E}">
        <p14:creationId xmlns:p14="http://schemas.microsoft.com/office/powerpoint/2010/main" val="2117945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9619A0F6-E04A-49C4-D32E-F285F688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951FEC3A-8829-FBCF-6589-0F8E3738DE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722" y="2562935"/>
            <a:ext cx="770705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Database Modifications</a:t>
            </a:r>
            <a:endParaRPr sz="400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441601B3-BF0B-2D0E-36C3-9633A46B1B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53723" y="169393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4F7448F6-AE0B-5508-FB0C-51A5FF3DEBDE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35E619E0-10C0-B736-9DA7-BD76EC51050A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5A8C7AC-0AEB-A6D1-FE73-3B3BDB3833D5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D78790C-3D08-3E19-7286-E817F586EEE5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57F1880C-56AF-C224-D386-138AA8EFA9D6}"/>
              </a:ext>
            </a:extLst>
          </p:cNvPr>
          <p:cNvSpPr txBox="1">
            <a:spLocks/>
          </p:cNvSpPr>
          <p:nvPr/>
        </p:nvSpPr>
        <p:spPr>
          <a:xfrm>
            <a:off x="1230497" y="332113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4:</a:t>
            </a:r>
          </a:p>
        </p:txBody>
      </p:sp>
    </p:spTree>
    <p:extLst>
      <p:ext uri="{BB962C8B-B14F-4D97-AF65-F5344CB8AC3E}">
        <p14:creationId xmlns:p14="http://schemas.microsoft.com/office/powerpoint/2010/main" val="25356881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D0340AE-0174-E25C-BCB1-E117A724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B4A267B-3A34-C60C-E89D-C7883200CD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Database Modifications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2987E3FE-13DD-5044-3344-7AFE4CD7350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9DB1F2B-FBD3-262E-867F-C1AB657BFC8E}"/>
              </a:ext>
            </a:extLst>
          </p:cNvPr>
          <p:cNvSpPr txBox="1">
            <a:spLocks/>
          </p:cNvSpPr>
          <p:nvPr/>
        </p:nvSpPr>
        <p:spPr>
          <a:xfrm>
            <a:off x="812262" y="1320370"/>
            <a:ext cx="714240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Update Inventory – Shipment of 50 units of 'Product Y' arrives at 'Warehouse Z'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B42055-9350-03EC-9E85-110B1ED28C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8" t="20345" r="4803" b="20265"/>
          <a:stretch>
            <a:fillRect/>
          </a:stretch>
        </p:blipFill>
        <p:spPr>
          <a:xfrm>
            <a:off x="650450" y="2349071"/>
            <a:ext cx="7588577" cy="1249858"/>
          </a:xfrm>
          <a:prstGeom prst="roundRect">
            <a:avLst>
              <a:gd name="adj" fmla="val 1170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322184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66BF479-3269-37AF-31DC-570170EB6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4D4C683-314D-148B-67E1-9FE5E3477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Database Modifications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07DFD9F7-3B90-1050-DF2B-8E644D39386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064943E-965F-1BAC-C0B2-9530FAC0537F}"/>
              </a:ext>
            </a:extLst>
          </p:cNvPr>
          <p:cNvSpPr txBox="1">
            <a:spLocks/>
          </p:cNvSpPr>
          <p:nvPr/>
        </p:nvSpPr>
        <p:spPr>
          <a:xfrm>
            <a:off x="812262" y="1320370"/>
            <a:ext cx="714240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Update Order Status &amp; Stock – An order has been shipped: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8FDB654-6CCD-24B8-468B-5E6AA458EE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40" t="20795" r="14252" b="21190"/>
          <a:stretch>
            <a:fillRect/>
          </a:stretch>
        </p:blipFill>
        <p:spPr>
          <a:xfrm>
            <a:off x="449061" y="2089528"/>
            <a:ext cx="3465093" cy="1792810"/>
          </a:xfrm>
          <a:prstGeom prst="roundRect">
            <a:avLst>
              <a:gd name="adj" fmla="val 21814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45936E-F054-72E7-B4B0-6E101FF58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51" t="19788" r="8617" b="19236"/>
          <a:stretch>
            <a:fillRect/>
          </a:stretch>
        </p:blipFill>
        <p:spPr>
          <a:xfrm>
            <a:off x="4169850" y="2308153"/>
            <a:ext cx="4420184" cy="1334475"/>
          </a:xfrm>
          <a:prstGeom prst="roundRect">
            <a:avLst>
              <a:gd name="adj" fmla="val 1732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825229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6E5BBFB-8ACA-CF17-6DA5-48FA7E15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0C4AAD8-9910-C002-2406-F2E24EA11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Database Modifications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EA54FA6B-2EE6-494D-F785-FE66D35B02D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2BE6366-9F6A-8F66-9844-771848A065F5}"/>
              </a:ext>
            </a:extLst>
          </p:cNvPr>
          <p:cNvSpPr txBox="1">
            <a:spLocks/>
          </p:cNvSpPr>
          <p:nvPr/>
        </p:nvSpPr>
        <p:spPr>
          <a:xfrm>
            <a:off x="812262" y="1320370"/>
            <a:ext cx="714240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Delete Spam Review – Remove flagged review: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21B7DE9-35B3-1DF5-8A8F-93542873A8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89" t="23341" r="12737" b="26436"/>
          <a:stretch>
            <a:fillRect/>
          </a:stretch>
        </p:blipFill>
        <p:spPr>
          <a:xfrm>
            <a:off x="2111636" y="2105727"/>
            <a:ext cx="4722829" cy="1760412"/>
          </a:xfrm>
          <a:prstGeom prst="roundRect">
            <a:avLst>
              <a:gd name="adj" fmla="val 17554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114338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2A683750-9911-9DB5-F4E5-FBAA3FEE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2A199341-DAC9-54D3-6B95-3614CAC528ED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178AE873-6763-B375-CC2B-2D43D2B4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034" y="1896327"/>
            <a:ext cx="5743931" cy="1110824"/>
          </a:xfrm>
        </p:spPr>
        <p:txBody>
          <a:bodyPr/>
          <a:lstStyle/>
          <a:p>
            <a:r>
              <a:rPr lang="en-US" sz="8800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10072188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BCE61402-E4A6-A535-FF09-2A09A1C1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138A7863-7E1C-6E83-2662-5F954DD2C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649775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Database &amp; Collection Setup</a:t>
            </a:r>
            <a:endParaRPr lang="en-US" sz="400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FA364F9A-6DF3-1A57-022D-8C0472232AF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1643F01D-C9BD-D6CA-AEAC-98491B0F14DC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D8CE1D7F-430B-C39A-69CE-A9E73289A632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9C35A0D-E900-7B3C-7C10-B830A94B90FD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002A0F6-BF5A-8963-3216-44DA6DA3A034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4E11C4A0-347A-70AA-CFC5-6D28C8AEAFED}"/>
              </a:ext>
            </a:extLst>
          </p:cNvPr>
          <p:cNvSpPr txBox="1">
            <a:spLocks/>
          </p:cNvSpPr>
          <p:nvPr/>
        </p:nvSpPr>
        <p:spPr>
          <a:xfrm>
            <a:off x="1286808" y="4085771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1:</a:t>
            </a:r>
          </a:p>
        </p:txBody>
      </p:sp>
    </p:spTree>
    <p:extLst>
      <p:ext uri="{BB962C8B-B14F-4D97-AF65-F5344CB8AC3E}">
        <p14:creationId xmlns:p14="http://schemas.microsoft.com/office/powerpoint/2010/main" val="37499254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52CB62E9-9D08-E862-2D35-929FD8F5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4AC0ADA-9F4F-14BF-175C-C08FCB0C2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8917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/>
              <a:t>Visual Representation of Tables and Their Relationships</a:t>
            </a:r>
            <a:endParaRPr sz="18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5AD383F5-76A4-05B4-E79E-1B8E4E9579F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E7E93B-EC31-2664-5434-4CD631D8FAE1}"/>
              </a:ext>
            </a:extLst>
          </p:cNvPr>
          <p:cNvSpPr/>
          <p:nvPr/>
        </p:nvSpPr>
        <p:spPr>
          <a:xfrm>
            <a:off x="7418895" y="4421171"/>
            <a:ext cx="744717" cy="45719"/>
          </a:xfrm>
          <a:prstGeom prst="rect">
            <a:avLst/>
          </a:prstGeom>
          <a:solidFill>
            <a:srgbClr val="FBFBFB"/>
          </a:solidFill>
          <a:ln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45C90B2-DDFF-B22D-1921-1C7A0A597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1" t="7724" r="5302" b="6901"/>
          <a:stretch>
            <a:fillRect/>
          </a:stretch>
        </p:blipFill>
        <p:spPr>
          <a:xfrm>
            <a:off x="2196059" y="1282059"/>
            <a:ext cx="4751882" cy="34077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495934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EC0EAF2-8270-D751-F939-60417F43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2FD91DC2-CA84-2C1D-3B3A-C095E1097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Creating the Database</a:t>
            </a:r>
            <a:endParaRPr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12C69BA7-84FB-E2A1-3904-70F605542EB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B93DFFF8-78AF-342B-5100-076E79E91309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Initialize the MongoDB database for the social media platform.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A29A048-EDCF-76F7-885C-A1937159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5" t="26752" r="8454" b="25799"/>
          <a:stretch>
            <a:fillRect/>
          </a:stretch>
        </p:blipFill>
        <p:spPr>
          <a:xfrm>
            <a:off x="1593219" y="1850016"/>
            <a:ext cx="5957561" cy="1153927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3057DDC-99C5-8273-9A1B-F8A044BFC6C7}"/>
              </a:ext>
            </a:extLst>
          </p:cNvPr>
          <p:cNvSpPr txBox="1"/>
          <p:nvPr/>
        </p:nvSpPr>
        <p:spPr>
          <a:xfrm>
            <a:off x="606789" y="3410185"/>
            <a:ext cx="65662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This command switches to the </a:t>
            </a:r>
            <a:r>
              <a:rPr lang="en-US" b="1" dirty="0" err="1">
                <a:solidFill>
                  <a:schemeClr val="tx1"/>
                </a:solidFill>
              </a:rPr>
              <a:t>socialMediaDB</a:t>
            </a:r>
            <a:r>
              <a:rPr lang="en-US" dirty="0">
                <a:solidFill>
                  <a:schemeClr val="tx1"/>
                </a:solidFill>
              </a:rPr>
              <a:t> database, which will be created the moment we insert our first document.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5EE501-3402-2BA1-3967-0D8AE9AE7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006" y="4081381"/>
            <a:ext cx="2765178" cy="4887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Flèche : courbe vers le haut 7">
            <a:extLst>
              <a:ext uri="{FF2B5EF4-FFF2-40B4-BE49-F238E27FC236}">
                <a16:creationId xmlns:a16="http://schemas.microsoft.com/office/drawing/2014/main" id="{8864455D-538D-5B3F-74E9-DB108DB11671}"/>
              </a:ext>
            </a:extLst>
          </p:cNvPr>
          <p:cNvSpPr/>
          <p:nvPr/>
        </p:nvSpPr>
        <p:spPr>
          <a:xfrm rot="5400000">
            <a:off x="265679" y="3819201"/>
            <a:ext cx="787950" cy="52436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6392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0E94CC0F-B439-2E44-0315-8F4E2BBA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5EE8EE81-14FF-499B-1E4A-779A3F174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Inserting Base Data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C1E4AE3-1B3B-2C67-0CEF-C86709A2ACCD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825AC80-4D4E-9857-105C-9DB4C4D8E067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Inserting Base Data with ”</a:t>
            </a:r>
            <a:r>
              <a:rPr lang="en-US" b="1" dirty="0" err="1">
                <a:solidFill>
                  <a:srgbClr val="FF0000"/>
                </a:solidFill>
              </a:rPr>
              <a:t>insertMany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r>
              <a:rPr lang="en-US" b="1" dirty="0">
                <a:solidFill>
                  <a:schemeClr val="tx2"/>
                </a:solidFill>
              </a:rPr>
              <a:t>”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9674254-ECA8-9A28-0D7A-10E83734A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0" t="10406" r="8077" b="10676"/>
          <a:stretch>
            <a:fillRect/>
          </a:stretch>
        </p:blipFill>
        <p:spPr>
          <a:xfrm>
            <a:off x="812241" y="2189316"/>
            <a:ext cx="3409795" cy="25573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10DF424-1774-F69F-54E3-7EE11B825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79" t="14026" r="6179" b="14377"/>
          <a:stretch>
            <a:fillRect/>
          </a:stretch>
        </p:blipFill>
        <p:spPr>
          <a:xfrm>
            <a:off x="4572000" y="2577747"/>
            <a:ext cx="4207069" cy="1490816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25930FD5-EC80-05CC-F531-6A045DC7AEEE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C06441-63F3-7F22-3379-DB0E8F14B819}"/>
              </a:ext>
            </a:extLst>
          </p:cNvPr>
          <p:cNvSpPr txBox="1"/>
          <p:nvPr/>
        </p:nvSpPr>
        <p:spPr>
          <a:xfrm>
            <a:off x="786938" y="1790855"/>
            <a:ext cx="79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Users: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FC743C6-0C18-63DC-8C5C-9C9B5F3AE4E3}"/>
              </a:ext>
            </a:extLst>
          </p:cNvPr>
          <p:cNvSpPr txBox="1"/>
          <p:nvPr/>
        </p:nvSpPr>
        <p:spPr>
          <a:xfrm>
            <a:off x="4572000" y="2098632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Groupes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582601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4CB8AAD-2FBE-6735-F049-60F96BDE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58C48677-AA27-A2FD-26BB-97DB8A12B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Inserting Base Data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813C58F-EC10-6502-0063-23BB8AA2E68A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5777A7EE-CA13-B7D2-E86C-D9942FF1CA6A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Inserting Base Data with ”</a:t>
            </a:r>
            <a:r>
              <a:rPr lang="en-US" b="1" dirty="0" err="1">
                <a:solidFill>
                  <a:srgbClr val="FF0000"/>
                </a:solidFill>
              </a:rPr>
              <a:t>insertMany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r>
              <a:rPr lang="en-US" b="1" dirty="0">
                <a:solidFill>
                  <a:schemeClr val="tx2"/>
                </a:solidFill>
              </a:rPr>
              <a:t>”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4D3697B2-6AB6-3A6A-4131-F71102C8DCFD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9CAB78-0C9E-BC41-F1A4-0CA6B5A0212F}"/>
              </a:ext>
            </a:extLst>
          </p:cNvPr>
          <p:cNvSpPr txBox="1"/>
          <p:nvPr/>
        </p:nvSpPr>
        <p:spPr>
          <a:xfrm>
            <a:off x="786938" y="1790855"/>
            <a:ext cx="79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Posts: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188E33-5331-68B8-CB40-2A141DDEF752}"/>
              </a:ext>
            </a:extLst>
          </p:cNvPr>
          <p:cNvSpPr txBox="1"/>
          <p:nvPr/>
        </p:nvSpPr>
        <p:spPr>
          <a:xfrm>
            <a:off x="4701419" y="2098632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Comment: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6BBB36B-69E9-BBF4-F0AF-47969B1022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6" t="10939" r="6911" b="12395"/>
          <a:stretch>
            <a:fillRect/>
          </a:stretch>
        </p:blipFill>
        <p:spPr>
          <a:xfrm>
            <a:off x="446049" y="2252520"/>
            <a:ext cx="4077234" cy="19700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7D20DA5-D750-FD4C-3F0C-468A776E2F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49" t="13095" r="6666" b="13095"/>
          <a:stretch>
            <a:fillRect/>
          </a:stretch>
        </p:blipFill>
        <p:spPr>
          <a:xfrm>
            <a:off x="4701972" y="2553340"/>
            <a:ext cx="4002828" cy="1669255"/>
          </a:xfrm>
          <a:prstGeom prst="roundRect">
            <a:avLst>
              <a:gd name="adj" fmla="val 641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323986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716C850-3945-90DE-F24A-0AF15956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779AC79-52C8-BE43-2834-855CD6F924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Inserting Base Data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F262CD1B-7B2F-8674-AF53-9582FED8611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BDC541F3-5DEE-0B2C-F2AD-1068B936D607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Collections Created Implicitly: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E26DA7F3-7712-686B-0EC3-65F70FBE03DF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B418AAE-56CF-8079-3D6F-07BFBD73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27" y="1994045"/>
            <a:ext cx="2921364" cy="195105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356781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236DA909-DE13-8DD2-D5B0-9BE17F86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68E97C2D-6AC1-3AE5-6651-59030CCE2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649775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Data Insertion</a:t>
            </a:r>
            <a:endParaRPr lang="en-US" sz="400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7C11CC25-0AE4-363B-F4BA-CBBFD98820E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3562A758-1A5D-5AFD-EE08-8DD42D0D3720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D358E19D-E6CF-7803-32D7-02329E86F7D6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4FB5A35-062C-DFE1-57A1-3914DF299DAD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3D621E4-8E47-7A06-8423-5414A0E97EFB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E0EE26FB-CB1C-AB82-FED3-88E9BC05D097}"/>
              </a:ext>
            </a:extLst>
          </p:cNvPr>
          <p:cNvSpPr txBox="1">
            <a:spLocks/>
          </p:cNvSpPr>
          <p:nvPr/>
        </p:nvSpPr>
        <p:spPr>
          <a:xfrm>
            <a:off x="1230497" y="3454350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2:</a:t>
            </a:r>
          </a:p>
        </p:txBody>
      </p:sp>
    </p:spTree>
    <p:extLst>
      <p:ext uri="{BB962C8B-B14F-4D97-AF65-F5344CB8AC3E}">
        <p14:creationId xmlns:p14="http://schemas.microsoft.com/office/powerpoint/2010/main" val="4473739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90FFF3B5-9E33-D099-378E-5FD3ED8B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CC510502-7198-513E-1E77-E9613FD19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2924" y="1824229"/>
            <a:ext cx="6497750" cy="1309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sz="3200" b="0" dirty="0"/>
              <a:t>Insert additional users </a:t>
            </a:r>
            <a:r>
              <a:rPr lang="en-US" sz="3200" b="0" dirty="0">
                <a:solidFill>
                  <a:srgbClr val="FF0000"/>
                </a:solidFill>
              </a:rPr>
              <a:t>&amp;</a:t>
            </a:r>
            <a:br>
              <a:rPr lang="en-US" sz="3200" b="0" dirty="0"/>
            </a:br>
            <a:r>
              <a:rPr lang="en-US" sz="3200" b="0" dirty="0"/>
              <a:t>Create more groups </a:t>
            </a:r>
            <a:br>
              <a:rPr lang="en-US" b="0" dirty="0"/>
            </a:br>
            <a:endParaRPr lang="en-US" sz="3200" b="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BA8C5F0C-1ECB-28A2-5BCC-D00E3FD800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0B050"/>
                </a:solidFill>
              </a:rPr>
              <a:t>01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0E035365-423E-E6F0-0902-E01852A01D8A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9F2EE113-A798-5323-DCF7-23522A41011B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E9313F3-5802-2682-AC1F-1C9205EF98C4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83AEA14-C54C-E969-9BCB-F192B8B728FC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25402340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882CAE02-1E9F-856D-3C22-73E59F9AB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8F0A0532-C488-C3B0-D265-E6DDC0045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Insert additional users</a:t>
            </a:r>
            <a:endParaRPr lang="en-US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0FB51F24-F816-E2BC-D963-C3A2AF082355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7F3E3702-D79E-E473-866F-A409D3B631CB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Insert 45 additional users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1E26C943-B121-5303-032D-5C9A25C35C06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3DDEB07-8126-3F30-788F-F25E05B8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9540" r="6673" b="9376"/>
          <a:stretch>
            <a:fillRect/>
          </a:stretch>
        </p:blipFill>
        <p:spPr>
          <a:xfrm>
            <a:off x="1000798" y="1733316"/>
            <a:ext cx="4434252" cy="2875855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535517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C1AFB039-3F5B-4226-13F5-93B9E11E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D8AF4905-6F03-5725-D116-705C4805E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dirty="0"/>
              <a:t>Create more groups  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F1B6055C-E5C4-CD98-ACE0-C3CD64E2596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7850416-5852-13C8-ECEB-9599CF75F0A4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Create specialized groups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BECA4ABD-2729-4719-A3A8-E0DC0CE1DFE9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F6B8CF3-2D77-A764-6AC1-CC5E62CC7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66" t="10551" r="8294" b="10244"/>
          <a:stretch>
            <a:fillRect/>
          </a:stretch>
        </p:blipFill>
        <p:spPr>
          <a:xfrm>
            <a:off x="1000799" y="1850016"/>
            <a:ext cx="3880972" cy="2889637"/>
          </a:xfrm>
          <a:prstGeom prst="roundRect">
            <a:avLst>
              <a:gd name="adj" fmla="val 526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A05B27-298D-73EE-EF2D-3BF3311550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11"/>
          <a:stretch>
            <a:fillRect/>
          </a:stretch>
        </p:blipFill>
        <p:spPr>
          <a:xfrm>
            <a:off x="5889098" y="1616407"/>
            <a:ext cx="1921713" cy="302540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801620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5F330-F1CD-EBB6-4799-AE1E5774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66E2704F-DFB3-BAC1-4279-B663A8779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2924" y="1824229"/>
            <a:ext cx="6497750" cy="1309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sz="3200" b="0" dirty="0"/>
              <a:t>Build social graph </a:t>
            </a:r>
            <a:br>
              <a:rPr lang="en-US" sz="3200" b="0" dirty="0"/>
            </a:br>
            <a:r>
              <a:rPr lang="en-US" sz="3200" b="0" dirty="0"/>
              <a:t>(followers/following)</a:t>
            </a:r>
            <a:br>
              <a:rPr lang="en-US" sz="3200" b="0" dirty="0"/>
            </a:br>
            <a:br>
              <a:rPr lang="en-US" sz="3200" b="0" dirty="0"/>
            </a:br>
            <a:endParaRPr lang="en-US" sz="3200" b="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85B7DFAE-10A6-A71F-39A3-30B4B06504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0B050"/>
                </a:solidFill>
              </a:rPr>
              <a:t>02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01A33515-AFE0-5529-838C-953DE6F3E3E4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A5719620-DE00-0829-3A78-C30BD466D702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ED27356-E5E3-890E-35F8-427E50FC5E46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2AF66E5-B537-A623-05B6-8F2F17AEF451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41433864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3DB71DA-4EBD-1400-5315-D046FEF7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9FAD92AB-4EAF-94C7-4704-145E5B4319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600" dirty="0"/>
              <a:t>Build social graph(followers/following)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1E79E4D-F342-E3CB-05B8-9017128C3275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6C039ADA-128A-7BD3-9EFE-B634F7113427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Helper function for random connections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BF160ECC-F7DC-A3D1-3555-27971DEDC00C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105FD1-3461-0B51-AD97-3B680955C3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6" t="12751" r="6748" b="13714"/>
          <a:stretch>
            <a:fillRect/>
          </a:stretch>
        </p:blipFill>
        <p:spPr>
          <a:xfrm>
            <a:off x="559700" y="1850016"/>
            <a:ext cx="5833666" cy="2453974"/>
          </a:xfrm>
          <a:prstGeom prst="roundRect">
            <a:avLst>
              <a:gd name="adj" fmla="val 11260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40770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CA68A9A-3392-B506-753E-47728992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445E9072-CC13-B030-4910-2FE13086E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600" dirty="0"/>
              <a:t>Build social graph(followers/following)</a:t>
            </a:r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572D7D49-DEFB-6514-34AA-C4E6CD833F48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B3201AF6-1B97-C8A8-249B-A7A5610B5630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Update user followers/following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FEA33A49-BDFC-9106-B63F-7476EE9C1C4B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B20C26-D41D-43A8-F252-6B3B208590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3" t="12263" r="6910" b="13784"/>
          <a:stretch>
            <a:fillRect/>
          </a:stretch>
        </p:blipFill>
        <p:spPr>
          <a:xfrm>
            <a:off x="922020" y="2216280"/>
            <a:ext cx="5196840" cy="2387810"/>
          </a:xfrm>
          <a:prstGeom prst="roundRect">
            <a:avLst>
              <a:gd name="adj" fmla="val 835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0E6880-9809-562E-60BE-2E7AA130C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33" t="44083" r="8776" b="28552"/>
          <a:stretch>
            <a:fillRect/>
          </a:stretch>
        </p:blipFill>
        <p:spPr>
          <a:xfrm>
            <a:off x="3979857" y="1361287"/>
            <a:ext cx="4505256" cy="572700"/>
          </a:xfrm>
          <a:prstGeom prst="roundRect">
            <a:avLst>
              <a:gd name="adj" fmla="val 1642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14229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CD69D063-457C-6666-0D85-D72AD60C9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65F5E5F7-9729-0329-8881-0B2DFEC9B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2924" y="1824229"/>
            <a:ext cx="6497750" cy="941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sz="3200" b="0" dirty="0"/>
              <a:t>Assign users to groups</a:t>
            </a:r>
            <a:endParaRPr lang="en-US" sz="1800" b="0" dirty="0"/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DC35BB44-3BA7-52D7-478E-FD87399B25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0B050"/>
                </a:solidFill>
              </a:rPr>
              <a:t>03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63CEC70D-CC42-C8CD-CA2B-65A08DC29FF6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32B20316-64A3-5D1B-5EFA-9D3A6CDA9D05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8409E0C-864D-5AD1-A79E-1D2456D0021E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D15637D-4AE7-5EFC-B7BD-4F0895FEBC93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6579749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5186A5F8-D534-3F70-2B08-2BF497C9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A41BDAE1-EDC1-D7B9-CEF8-ABEECC7F9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Assign users to groups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4ACD438A-88C7-A81D-A63B-48B181F20BA1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074062E0-79F9-41A7-A06A-BFB7AD372362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Organizing Users into Communities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89D61901-F5E6-224A-BF7D-38B2614743C9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906F9E3-E44E-842F-4D39-300DFE9F40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1" t="10361" r="5772" b="10937"/>
          <a:stretch>
            <a:fillRect/>
          </a:stretch>
        </p:blipFill>
        <p:spPr>
          <a:xfrm>
            <a:off x="1000799" y="1935695"/>
            <a:ext cx="5549359" cy="2619834"/>
          </a:xfrm>
          <a:prstGeom prst="roundRect">
            <a:avLst>
              <a:gd name="adj" fmla="val 6891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049220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9BB16DA-E42F-F2F3-8A3A-758F59C3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D91973FE-27FE-252A-7846-2D2EDB343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Assign users to groups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07072F3-85C0-0A1A-19EE-4758C910ACC7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515D5452-FDA1-19EF-4F46-FCEA15B50FDA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Example: JavaScript Developers group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F10DA380-AA1D-38ED-64F8-F110628404B2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804ED39-799F-E7FB-845E-400756BC0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55" t="13459" r="7479" b="13459"/>
          <a:stretch>
            <a:fillRect/>
          </a:stretch>
        </p:blipFill>
        <p:spPr>
          <a:xfrm>
            <a:off x="1055649" y="1733316"/>
            <a:ext cx="6155474" cy="2812303"/>
          </a:xfrm>
          <a:prstGeom prst="roundRect">
            <a:avLst>
              <a:gd name="adj" fmla="val 7919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060542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1B0FB2A9-16E2-8841-3D8A-05A79773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46208D16-73C9-9E80-B498-0C0FDC7795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2924" y="1824229"/>
            <a:ext cx="6497750" cy="941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atinLnBrk="1"/>
            <a:r>
              <a:rPr lang="en-US" sz="3200" b="0" dirty="0"/>
              <a:t>Create posts with engagement</a:t>
            </a:r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B92DAEF7-5CEF-4F4D-C2D4-13784A26F80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0B050"/>
                </a:solidFill>
              </a:rPr>
              <a:t>04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5D7B7EDA-9AA9-FB14-5BC1-729D5F7EBED8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09F46028-3848-2AB9-FD4A-76E01F987273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1C95067-D8A1-1028-23B9-11F5A4217E21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4F2EA4D-06D0-FF81-71A0-733F848369B7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28976380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5C62484-9440-748A-0341-064E7456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C326C83-CCFE-70AA-36FD-6900C9FEF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Create posts with engagement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95B19B6F-2134-CF32-74B5-76B2EF058C01}"/>
              </a:ext>
            </a:extLst>
          </p:cNvPr>
          <p:cNvSpPr/>
          <p:nvPr/>
        </p:nvSpPr>
        <p:spPr>
          <a:xfrm rot="6382974">
            <a:off x="6641862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C6E4560D-5D1E-AFAB-1FEA-1AB9A47C7749}"/>
              </a:ext>
            </a:extLst>
          </p:cNvPr>
          <p:cNvSpPr txBox="1">
            <a:spLocks/>
          </p:cNvSpPr>
          <p:nvPr/>
        </p:nvSpPr>
        <p:spPr>
          <a:xfrm>
            <a:off x="1000799" y="1361286"/>
            <a:ext cx="5833666" cy="3720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Recent Posts (Last 24 hours)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D7C5260-A535-D6ED-93B1-E134B18F7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4" t="16334" r="6186" b="7787"/>
          <a:stretch>
            <a:fillRect/>
          </a:stretch>
        </p:blipFill>
        <p:spPr>
          <a:xfrm>
            <a:off x="1000798" y="1733315"/>
            <a:ext cx="4527395" cy="29452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98A54E6-2096-6E35-A7DD-7D4779402B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52" t="23326" r="11633" b="25388"/>
          <a:stretch>
            <a:fillRect/>
          </a:stretch>
        </p:blipFill>
        <p:spPr>
          <a:xfrm>
            <a:off x="5802741" y="2737643"/>
            <a:ext cx="2520175" cy="782930"/>
          </a:xfrm>
          <a:prstGeom prst="roundRect">
            <a:avLst>
              <a:gd name="adj" fmla="val 22152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31931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2AA34907-D556-4B39-18A3-83C65787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5DB4AEFD-54EC-C2FD-B4CE-3E08BAC09E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7528638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4000" dirty="0"/>
              <a:t>Queries and Aggregations</a:t>
            </a:r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1F31AC6F-E32E-66C8-7D55-820C3547C87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9C533281-C78C-9A4E-4C3B-29F0D165A2E7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08AC38A3-7F04-F51E-73A1-F87F71580DF1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280EE03-24EF-4013-6736-01E6DCE2DF65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C70E827-F81F-810A-D638-2053383AD6D5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0BA1B316-CFBE-5A39-EBAC-030E685B16B9}"/>
              </a:ext>
            </a:extLst>
          </p:cNvPr>
          <p:cNvSpPr txBox="1">
            <a:spLocks/>
          </p:cNvSpPr>
          <p:nvPr/>
        </p:nvSpPr>
        <p:spPr>
          <a:xfrm>
            <a:off x="1286808" y="4085771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1:</a:t>
            </a:r>
          </a:p>
        </p:txBody>
      </p:sp>
    </p:spTree>
    <p:extLst>
      <p:ext uri="{BB962C8B-B14F-4D97-AF65-F5344CB8AC3E}">
        <p14:creationId xmlns:p14="http://schemas.microsoft.com/office/powerpoint/2010/main" val="16047554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CCCC9BE-3425-A2AA-0797-324FDF2B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CC19F9C4-C7D5-2EBE-F23E-436B5A1B5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690B5C0A-988E-44A4-FE6E-B3BACFC0D97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5CA36201-4F75-F8E3-6257-F4497C50523C}"/>
              </a:ext>
            </a:extLst>
          </p:cNvPr>
          <p:cNvSpPr txBox="1">
            <a:spLocks/>
          </p:cNvSpPr>
          <p:nvPr/>
        </p:nvSpPr>
        <p:spPr>
          <a:xfrm>
            <a:off x="1000800" y="13940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Find the complete profile of a user, and using </a:t>
            </a:r>
            <a:r>
              <a:rPr lang="en-US" b="1" dirty="0">
                <a:solidFill>
                  <a:srgbClr val="FF0000"/>
                </a:solidFill>
              </a:rPr>
              <a:t>$lookup</a:t>
            </a:r>
            <a:r>
              <a:rPr lang="en-US" b="1" dirty="0">
                <a:solidFill>
                  <a:schemeClr val="tx2"/>
                </a:solidFill>
              </a:rPr>
              <a:t>, retrieve full documents of users they are following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FD42BE19-D884-8035-4C1E-C04BAC0D9714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BE4956-A807-3540-F462-17D95EF5E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4" t="5493" r="7440" b="51870"/>
          <a:stretch>
            <a:fillRect/>
          </a:stretch>
        </p:blipFill>
        <p:spPr>
          <a:xfrm>
            <a:off x="609510" y="1994045"/>
            <a:ext cx="3962490" cy="25084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D463F5-7B7D-2760-8C89-D056491C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00" t="47197" r="6014" b="5795"/>
          <a:stretch>
            <a:fillRect/>
          </a:stretch>
        </p:blipFill>
        <p:spPr>
          <a:xfrm>
            <a:off x="4745656" y="2078016"/>
            <a:ext cx="3714588" cy="25925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280216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D32130F-4817-D7D7-7743-DF09C258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54FAA54-EBF4-91B2-F549-86CCC8A98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4713BA59-CDCF-A3F2-B5C3-7A783F3E066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59D06CF-5FF0-FA58-14D3-E3449281059B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2 - List all posts made within a specific group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7093783F-E9A3-5D58-FE75-534ABB709F93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E47B030-0BB7-03EF-4C2A-EE3A4535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8" t="10984" r="7305" b="11545"/>
          <a:stretch>
            <a:fillRect/>
          </a:stretch>
        </p:blipFill>
        <p:spPr>
          <a:xfrm>
            <a:off x="2007221" y="1850016"/>
            <a:ext cx="4676076" cy="25882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4479892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A67CCDE-3D79-2637-1815-90DD6393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8D1AB7F2-BFED-93D8-EB8C-D0CB979480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799" y="646266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C229F431-2C32-77F4-BB3E-C3972AD6104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E7785274-6BB7-DA30-297C-912A49352463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3 - For a specific post, retrieve all its parent comments. Then for a specific parent comment, retrieve all replies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6B5273E8-1747-65DA-4E15-1FA8BB61DD45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CE0F98-D038-DB8F-FBC9-B01AA08E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4" t="6937" r="5894" b="7208"/>
          <a:stretch>
            <a:fillRect/>
          </a:stretch>
        </p:blipFill>
        <p:spPr>
          <a:xfrm>
            <a:off x="2762116" y="1733316"/>
            <a:ext cx="3619768" cy="29227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94247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630BDCB-EA5A-606A-7E26-AB99D493A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56D5BE0-BCBE-906C-AC2C-1519AF811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A106E72-BC31-918E-535C-64527898394E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40D052EA-F926-8E69-8740-21935ECFFA2E}"/>
              </a:ext>
            </a:extLst>
          </p:cNvPr>
          <p:cNvSpPr txBox="1">
            <a:spLocks/>
          </p:cNvSpPr>
          <p:nvPr/>
        </p:nvSpPr>
        <p:spPr>
          <a:xfrm>
            <a:off x="1024524" y="132285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4 - Find all posts from the last 24 hours that contain the tag '#</a:t>
            </a:r>
            <a:r>
              <a:rPr lang="en-US" b="1" dirty="0" err="1">
                <a:solidFill>
                  <a:schemeClr val="tx2"/>
                </a:solidFill>
              </a:rPr>
              <a:t>mongodb</a:t>
            </a:r>
            <a:r>
              <a:rPr lang="en-US" b="1" dirty="0">
                <a:solidFill>
                  <a:schemeClr val="tx2"/>
                </a:solidFill>
              </a:rPr>
              <a:t>'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EA7DBAB3-F200-E8FA-5B8F-8EBDC4540F48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99EA52-3BDE-969C-4240-131FD0E18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16" t="13711" r="5286" b="13702"/>
          <a:stretch>
            <a:fillRect/>
          </a:stretch>
        </p:blipFill>
        <p:spPr>
          <a:xfrm>
            <a:off x="1024524" y="1935695"/>
            <a:ext cx="6969513" cy="22246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032351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4DD8A63-3D63-4EDB-0877-E96335AB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EBF65F62-0EF4-BED2-B3F2-1694730BD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799" y="407949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01398714-AAEF-5BEE-8610-1589598B9256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1F895D6-5B55-BC51-FE9C-E735D0817FB0}"/>
              </a:ext>
            </a:extLst>
          </p:cNvPr>
          <p:cNvSpPr txBox="1">
            <a:spLocks/>
          </p:cNvSpPr>
          <p:nvPr/>
        </p:nvSpPr>
        <p:spPr>
          <a:xfrm>
            <a:off x="536405" y="1073332"/>
            <a:ext cx="5170975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5 - Generate an Advanced User Feed: posts from followed users AND group posts, sorted by timestamp, limit 20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6A52FDE6-C664-94C0-1E04-BC43A5F5B1C6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56E7350-D400-984D-2305-2967C017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83" t="8239" r="8741" b="10388"/>
          <a:stretch>
            <a:fillRect/>
          </a:stretch>
        </p:blipFill>
        <p:spPr>
          <a:xfrm>
            <a:off x="640436" y="1733316"/>
            <a:ext cx="3901937" cy="29290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26F49BD-75B2-8F64-31C3-4046E57E3B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4" t="11997" r="9713" b="7931"/>
          <a:stretch>
            <a:fillRect/>
          </a:stretch>
        </p:blipFill>
        <p:spPr>
          <a:xfrm>
            <a:off x="5516880" y="1361287"/>
            <a:ext cx="2625105" cy="33742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951504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CF99DB0-29E3-51B6-92B6-7E134D8E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F5576A60-AC68-C1C5-98D2-A85E4862D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EE74AE6-EE31-FDCA-F85E-5BCC7B6279BA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AD9C6684-D84F-0796-FA8F-D62F9597CC5C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6 - Identify users who are members of a group but have never posted in it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CC47B0FE-8C01-15D0-DAF0-9F9EBFF708DA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BC04C6-28AB-F8E4-AED1-BAFB2BB95A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28" t="7949" r="6262" b="8943"/>
          <a:stretch>
            <a:fillRect/>
          </a:stretch>
        </p:blipFill>
        <p:spPr>
          <a:xfrm>
            <a:off x="1613211" y="1800805"/>
            <a:ext cx="4014438" cy="2856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297891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CCC2453-96BE-1508-3062-1A8C0512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9977420-A2A1-3614-C574-C79DB9D2F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176E7976-2019-4E95-F486-BD2400DCFB8A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437C32B8-DC1A-D0E1-8840-9CB9D8936FCA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7 - Find posts that have more than 10 likes but zero comments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A56CA7A1-FF16-828F-7ECB-7EF5E9021C11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38639B7-CD40-541D-D999-8E6856FA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55" t="14357" r="6992" b="14176"/>
          <a:stretch>
            <a:fillRect/>
          </a:stretch>
        </p:blipFill>
        <p:spPr>
          <a:xfrm>
            <a:off x="1367883" y="1850016"/>
            <a:ext cx="6289287" cy="26264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196059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DD956FB9-D64B-9793-3BE0-7DCBFBF7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5D3E34C6-5B58-2112-96FB-B720641A2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C0E4CED-4F52-C157-0FCC-70D98309F16B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FA6E123-6668-425F-EF66-EB4824E04AA3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8 - </a:t>
            </a:r>
            <a:r>
              <a:rPr lang="en-US" b="1" dirty="0" err="1">
                <a:solidFill>
                  <a:schemeClr val="tx2"/>
                </a:solidFill>
              </a:rPr>
              <a:t>ount</a:t>
            </a:r>
            <a:r>
              <a:rPr lang="en-US" b="1" dirty="0">
                <a:solidFill>
                  <a:schemeClr val="tx2"/>
                </a:solidFill>
              </a:rPr>
              <a:t> the number of members in each group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28C5F823-2D47-9688-6CC1-70C63E567213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681BADD-4E70-5AFC-25A6-A306153DD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49" t="10117" r="8811" b="10389"/>
          <a:stretch>
            <a:fillRect/>
          </a:stretch>
        </p:blipFill>
        <p:spPr>
          <a:xfrm>
            <a:off x="2576565" y="1850016"/>
            <a:ext cx="3599108" cy="28897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684110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7CEAAE5-0809-6D54-8D08-D522416F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351EBA7B-A9D5-3A89-8FFB-B05E0DA64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799" y="359916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D1DE4D40-6443-B528-45B4-FACC7FABC130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67F28122-1CA5-E8D8-2170-F4128E57E31C}"/>
              </a:ext>
            </a:extLst>
          </p:cNvPr>
          <p:cNvSpPr txBox="1">
            <a:spLocks/>
          </p:cNvSpPr>
          <p:nvPr/>
        </p:nvSpPr>
        <p:spPr>
          <a:xfrm>
            <a:off x="1000799" y="86685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9 - Generate a list of unread notifications for a user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84B25EA1-9DC5-F78E-3FDC-BD31C56FBEAF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A9866A0-A904-2B3A-A7CB-F3963EE67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83" t="7227" r="6956" b="7931"/>
          <a:stretch>
            <a:fillRect/>
          </a:stretch>
        </p:blipFill>
        <p:spPr>
          <a:xfrm>
            <a:off x="597449" y="1563666"/>
            <a:ext cx="3843689" cy="324128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AF20962-BA74-25D4-98CC-3B6CE948D2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08" t="19078" r="10061" b="10533"/>
          <a:stretch>
            <a:fillRect/>
          </a:stretch>
        </p:blipFill>
        <p:spPr>
          <a:xfrm>
            <a:off x="4838224" y="1444840"/>
            <a:ext cx="3688446" cy="31568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160425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A43790E0-2D05-0FB9-1649-D20F9902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86279E7E-76F8-0EC1-8563-BDFF5F6A9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C48864D-34BA-F44F-2958-86EE8AFCCB7C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9626EC69-2ABF-093B-823E-8F77254FE83E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10 - List the top 10 most influential users (most followers)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40C814BE-F651-EBB6-A346-94C741A4DC70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A1F270-FC09-3C9D-BC8A-6D5D0CD7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4" t="8961" r="7525" b="8943"/>
          <a:stretch>
            <a:fillRect/>
          </a:stretch>
        </p:blipFill>
        <p:spPr>
          <a:xfrm>
            <a:off x="3680798" y="1840024"/>
            <a:ext cx="3672164" cy="29501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449128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9933DB55-A26E-52B8-BD2F-2FD7972FD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26088BA1-3C0B-B116-D164-77C49E96E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35F8100B-830B-14A1-431B-4E61FD9924A2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11F94AF6-BF8B-D853-9928-D60B3EE3CBC8}"/>
              </a:ext>
            </a:extLst>
          </p:cNvPr>
          <p:cNvSpPr txBox="1">
            <a:spLocks/>
          </p:cNvSpPr>
          <p:nvPr/>
        </p:nvSpPr>
        <p:spPr>
          <a:xfrm>
            <a:off x="1000799" y="1277316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11 - Calculate the average number of likes per post for each user 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407424DA-E533-D9ED-2235-67AAE1887976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AD3EBA-F4B1-FB6F-277F-2E68F844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0" t="7371" r="8079" b="8076"/>
          <a:stretch>
            <a:fillRect/>
          </a:stretch>
        </p:blipFill>
        <p:spPr>
          <a:xfrm>
            <a:off x="1210882" y="1733316"/>
            <a:ext cx="3001631" cy="3017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46D8572-9A05-0D22-50A2-C3EFD419AE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47" t="10118" r="8171" b="9376"/>
          <a:stretch>
            <a:fillRect/>
          </a:stretch>
        </p:blipFill>
        <p:spPr>
          <a:xfrm>
            <a:off x="5121220" y="1832412"/>
            <a:ext cx="3416098" cy="28189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458735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B5A16114-7910-443D-33FB-9BEE3E1E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0D96BD59-0CB9-3CCF-33A4-491BA1362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532265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6198284C-9431-F510-30EE-2F800D98569F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F43CB79A-DACC-EFA6-3B41-D7D5CFE18F4A}"/>
              </a:ext>
            </a:extLst>
          </p:cNvPr>
          <p:cNvSpPr txBox="1">
            <a:spLocks/>
          </p:cNvSpPr>
          <p:nvPr/>
        </p:nvSpPr>
        <p:spPr>
          <a:xfrm>
            <a:off x="791331" y="1297330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12 - Find the 'trending' tags of the day by counting tag occurrences in posts from the last 24 hours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98FC57DD-F432-BF98-C2C3-02C027B8404C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966291-2828-22D0-9CC8-D76D9D4E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99" t="9745" r="5905" b="9522"/>
          <a:stretch>
            <a:fillRect/>
          </a:stretch>
        </p:blipFill>
        <p:spPr>
          <a:xfrm>
            <a:off x="791331" y="1850016"/>
            <a:ext cx="4196303" cy="25757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EA61FCA-00B6-50CE-D726-ACE6BE9FF5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68" t="8972" r="10110" b="10070"/>
          <a:stretch>
            <a:fillRect/>
          </a:stretch>
        </p:blipFill>
        <p:spPr>
          <a:xfrm>
            <a:off x="5738936" y="1277315"/>
            <a:ext cx="2936713" cy="33764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5339795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28762780-3A47-8209-FC83-AFF419C0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1B20E7F1-FB12-5CC7-E788-8FBD21630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799" y="446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AC74865E-7DED-757A-7254-F20885118783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3809A09D-A5F8-7294-2F04-57255FDDF7ED}"/>
              </a:ext>
            </a:extLst>
          </p:cNvPr>
          <p:cNvSpPr txBox="1">
            <a:spLocks/>
          </p:cNvSpPr>
          <p:nvPr/>
        </p:nvSpPr>
        <p:spPr>
          <a:xfrm>
            <a:off x="693723" y="1092651"/>
            <a:ext cx="4297377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13 - Find the most active user in a specific group (most posts + comments)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9DA623D4-6AEC-51B1-398C-8EB202F3144E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11C8165-8677-319D-FE35-A23E93F83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6" t="8962" r="7213" b="9954"/>
          <a:stretch>
            <a:fillRect/>
          </a:stretch>
        </p:blipFill>
        <p:spPr>
          <a:xfrm>
            <a:off x="537363" y="1733316"/>
            <a:ext cx="3888058" cy="28401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1E32DD2-51B7-1898-E18A-06B9DC4C16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40" t="4794" r="7178" b="6290"/>
          <a:stretch>
            <a:fillRect/>
          </a:stretch>
        </p:blipFill>
        <p:spPr>
          <a:xfrm>
            <a:off x="5235655" y="1361287"/>
            <a:ext cx="2601012" cy="33137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969709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F0C232C1-7C95-5E8A-3263-DEECEC88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68C71AFC-E36F-E617-3758-C5DC4F9736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B3CB3A51-C5CD-186D-1E8E-B9564501258A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394F1720-EF76-B5CC-3057-5941BDA955FE}"/>
              </a:ext>
            </a:extLst>
          </p:cNvPr>
          <p:cNvSpPr txBox="1">
            <a:spLocks/>
          </p:cNvSpPr>
          <p:nvPr/>
        </p:nvSpPr>
        <p:spPr>
          <a:xfrm>
            <a:off x="1000799" y="1361287"/>
            <a:ext cx="5833666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atinLnBrk="1"/>
            <a:r>
              <a:rPr lang="en-US" b="1" dirty="0">
                <a:solidFill>
                  <a:schemeClr val="tx2"/>
                </a:solidFill>
              </a:rPr>
              <a:t>14 - Generate a report showing the daily user registration count for the last 30 days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94E54268-FEE7-59B7-EA8E-3A40F7867AEE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DF3B0E0-7A4B-EC12-935A-910ABEE2B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4" t="6647" r="5897" b="41657"/>
          <a:stretch>
            <a:fillRect/>
          </a:stretch>
        </p:blipFill>
        <p:spPr>
          <a:xfrm>
            <a:off x="503015" y="1994045"/>
            <a:ext cx="4400906" cy="22582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81CC994-9BFB-5E74-A2F8-9036890F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06" t="56556" r="27784" b="7651"/>
          <a:stretch>
            <a:fillRect/>
          </a:stretch>
        </p:blipFill>
        <p:spPr>
          <a:xfrm>
            <a:off x="5182421" y="2222045"/>
            <a:ext cx="3304088" cy="156359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7532109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4E2F895A-D058-63F7-F3F0-00F0A3ED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BE470019-AB40-2F2B-E8C8-7AE4266EDE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C7812D0F-A88C-846E-E6D4-106A33B32C00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264540C1-78C8-75F8-77E5-B034ABEA5996}"/>
              </a:ext>
            </a:extLst>
          </p:cNvPr>
          <p:cNvSpPr txBox="1">
            <a:spLocks/>
          </p:cNvSpPr>
          <p:nvPr/>
        </p:nvSpPr>
        <p:spPr>
          <a:xfrm>
            <a:off x="565737" y="1443961"/>
            <a:ext cx="4259024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15 - For a user's profile, aggregate total post count, total likes received, and follower count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A9B13A39-8F4A-8F56-8258-91269EA62E66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703BBEC-40C0-25CD-B3C7-BC3E74C5B6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0" t="4433" r="8476" b="57507"/>
          <a:stretch>
            <a:fillRect/>
          </a:stretch>
        </p:blipFill>
        <p:spPr>
          <a:xfrm>
            <a:off x="758283" y="2222045"/>
            <a:ext cx="3196353" cy="19576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C3BB63E-07D9-5ADA-5EB1-B7B008165F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42" t="40761" r="6842" b="5306"/>
          <a:stretch>
            <a:fillRect/>
          </a:stretch>
        </p:blipFill>
        <p:spPr>
          <a:xfrm>
            <a:off x="4824761" y="1549456"/>
            <a:ext cx="3498156" cy="295991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040035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>
          <a:extLst>
            <a:ext uri="{FF2B5EF4-FFF2-40B4-BE49-F238E27FC236}">
              <a16:creationId xmlns:a16="http://schemas.microsoft.com/office/drawing/2014/main" id="{4F77B387-4ADE-C9B6-1AC4-01B6D44A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>
            <a:extLst>
              <a:ext uri="{FF2B5EF4-FFF2-40B4-BE49-F238E27FC236}">
                <a16:creationId xmlns:a16="http://schemas.microsoft.com/office/drawing/2014/main" id="{444C4223-57D1-D98E-4A3B-C6852DDC2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9050" y="2585350"/>
            <a:ext cx="649775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Modifications </a:t>
            </a:r>
            <a:endParaRPr lang="en-US" dirty="0">
              <a:effectLst/>
            </a:endParaRPr>
          </a:p>
        </p:txBody>
      </p:sp>
      <p:sp>
        <p:nvSpPr>
          <p:cNvPr id="543" name="Google Shape;543;p29">
            <a:extLst>
              <a:ext uri="{FF2B5EF4-FFF2-40B4-BE49-F238E27FC236}">
                <a16:creationId xmlns:a16="http://schemas.microsoft.com/office/drawing/2014/main" id="{54BED0D0-DE45-3838-C197-A6C69573BB2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99050" y="1716350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44" name="Google Shape;544;p29">
            <a:extLst>
              <a:ext uri="{FF2B5EF4-FFF2-40B4-BE49-F238E27FC236}">
                <a16:creationId xmlns:a16="http://schemas.microsoft.com/office/drawing/2014/main" id="{0EE230D1-1595-9237-5748-278C2BD73CA9}"/>
              </a:ext>
            </a:extLst>
          </p:cNvPr>
          <p:cNvSpPr/>
          <p:nvPr/>
        </p:nvSpPr>
        <p:spPr>
          <a:xfrm>
            <a:off x="-466699" y="-1558207"/>
            <a:ext cx="4291800" cy="2699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29">
            <a:extLst>
              <a:ext uri="{FF2B5EF4-FFF2-40B4-BE49-F238E27FC236}">
                <a16:creationId xmlns:a16="http://schemas.microsoft.com/office/drawing/2014/main" id="{7609A311-4C60-A9D0-B005-6A05FC320BDE}"/>
              </a:ext>
            </a:extLst>
          </p:cNvPr>
          <p:cNvGrpSpPr/>
          <p:nvPr/>
        </p:nvGrpSpPr>
        <p:grpSpPr>
          <a:xfrm>
            <a:off x="4407005" y="4191791"/>
            <a:ext cx="329989" cy="275508"/>
            <a:chOff x="4382679" y="4319018"/>
            <a:chExt cx="378645" cy="316095"/>
          </a:xfrm>
        </p:grpSpPr>
        <p:sp>
          <p:nvSpPr>
            <p:cNvPr id="546" name="Google Shape;546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F0B3ECC-ED50-6874-D6A1-C97BFDACB067}"/>
                </a:ext>
              </a:extLst>
            </p:cNvPr>
            <p:cNvSpPr/>
            <p:nvPr/>
          </p:nvSpPr>
          <p:spPr>
            <a:xfrm>
              <a:off x="4382679" y="4442791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7" name="Google Shape;547;p2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5826DB4-B00E-CFC0-7E42-83EAF3F8DEB7}"/>
                </a:ext>
              </a:extLst>
            </p:cNvPr>
            <p:cNvSpPr/>
            <p:nvPr/>
          </p:nvSpPr>
          <p:spPr>
            <a:xfrm>
              <a:off x="4382679" y="4319018"/>
              <a:ext cx="378645" cy="192322"/>
            </a:xfrm>
            <a:custGeom>
              <a:avLst/>
              <a:gdLst/>
              <a:ahLst/>
              <a:cxnLst/>
              <a:rect l="l" t="t" r="r" b="b"/>
              <a:pathLst>
                <a:path w="23610" h="11992" extrusionOk="0">
                  <a:moveTo>
                    <a:pt x="0" y="0"/>
                  </a:moveTo>
                  <a:lnTo>
                    <a:pt x="11993" y="11992"/>
                  </a:lnTo>
                  <a:lnTo>
                    <a:pt x="23610" y="37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" name="Google Shape;507;p26">
            <a:extLst>
              <a:ext uri="{FF2B5EF4-FFF2-40B4-BE49-F238E27FC236}">
                <a16:creationId xmlns:a16="http://schemas.microsoft.com/office/drawing/2014/main" id="{2367B501-1B27-F6CD-2089-F8666717A3BA}"/>
              </a:ext>
            </a:extLst>
          </p:cNvPr>
          <p:cNvSpPr txBox="1">
            <a:spLocks/>
          </p:cNvSpPr>
          <p:nvPr/>
        </p:nvSpPr>
        <p:spPr>
          <a:xfrm>
            <a:off x="1230497" y="3574507"/>
            <a:ext cx="6466303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Phase 4:</a:t>
            </a:r>
          </a:p>
        </p:txBody>
      </p:sp>
    </p:spTree>
    <p:extLst>
      <p:ext uri="{BB962C8B-B14F-4D97-AF65-F5344CB8AC3E}">
        <p14:creationId xmlns:p14="http://schemas.microsoft.com/office/powerpoint/2010/main" val="63952206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3093D2EB-99E6-633D-FFDE-4FB94B6E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D99E4F69-AD15-EAB1-3821-B7DA757E6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800" y="788587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1BA0081E-AB8C-719D-AD2D-014F6D2C814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10C8ABAB-6648-31FF-D741-65D3C65479CF}"/>
              </a:ext>
            </a:extLst>
          </p:cNvPr>
          <p:cNvSpPr txBox="1">
            <a:spLocks/>
          </p:cNvSpPr>
          <p:nvPr/>
        </p:nvSpPr>
        <p:spPr>
          <a:xfrm>
            <a:off x="565736" y="1443961"/>
            <a:ext cx="7374303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1 -  A user follows another: use `$</a:t>
            </a:r>
            <a:r>
              <a:rPr lang="en-US" b="1" dirty="0" err="1">
                <a:solidFill>
                  <a:schemeClr val="tx2"/>
                </a:solidFill>
              </a:rPr>
              <a:t>addToSet</a:t>
            </a:r>
            <a:r>
              <a:rPr lang="en-US" b="1" dirty="0">
                <a:solidFill>
                  <a:schemeClr val="tx2"/>
                </a:solidFill>
              </a:rPr>
              <a:t>` on both users' documents to update `following` and `followers` arrays. Then, create a `notification` document.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C7318996-9044-6C1E-B0DF-5B3804B53634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A51F02-75A9-833E-8D93-45DCDC54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5" t="13927" r="7121" b="42369"/>
          <a:stretch>
            <a:fillRect/>
          </a:stretch>
        </p:blipFill>
        <p:spPr>
          <a:xfrm>
            <a:off x="377866" y="2256071"/>
            <a:ext cx="3863340" cy="17560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E8AF612-EF19-BD5E-518E-B9BB45CD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45" t="56990" r="9995" b="7975"/>
          <a:stretch>
            <a:fillRect/>
          </a:stretch>
        </p:blipFill>
        <p:spPr>
          <a:xfrm>
            <a:off x="4355109" y="2364366"/>
            <a:ext cx="4320540" cy="162442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233395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574CA198-BB92-A485-32EC-4009C5D4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FF76AB1F-9D6E-90F8-C9EC-478E6CCC5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8880" y="515448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73679A3E-A107-4868-8D50-0F65EB4EEEE4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8DDCE490-B203-522A-8CF1-47FF2082B6DC}"/>
              </a:ext>
            </a:extLst>
          </p:cNvPr>
          <p:cNvSpPr txBox="1">
            <a:spLocks/>
          </p:cNvSpPr>
          <p:nvPr/>
        </p:nvSpPr>
        <p:spPr>
          <a:xfrm>
            <a:off x="425045" y="1209354"/>
            <a:ext cx="8250603" cy="6804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A user posts a reply to a comment: create a new `comment` document with the `</a:t>
            </a:r>
            <a:r>
              <a:rPr lang="en-US" b="1" dirty="0" err="1">
                <a:solidFill>
                  <a:schemeClr val="tx2"/>
                </a:solidFill>
              </a:rPr>
              <a:t>parent_comment_id</a:t>
            </a:r>
            <a:r>
              <a:rPr lang="en-US" b="1" dirty="0">
                <a:solidFill>
                  <a:schemeClr val="tx2"/>
                </a:solidFill>
              </a:rPr>
              <a:t>` set correctly. Then, create a `notification` for the author of the parent comment.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F3442466-E153-EAB8-FFA0-33AA75412E9F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F5F6EDB-C242-3D24-C769-5E1B839BA7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0" t="9278" r="7066" b="7724"/>
          <a:stretch>
            <a:fillRect/>
          </a:stretch>
        </p:blipFill>
        <p:spPr>
          <a:xfrm>
            <a:off x="3398519" y="1786563"/>
            <a:ext cx="5277129" cy="29835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6305407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E1769470-F993-41A0-976C-1AFA922A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">
            <a:extLst>
              <a:ext uri="{FF2B5EF4-FFF2-40B4-BE49-F238E27FC236}">
                <a16:creationId xmlns:a16="http://schemas.microsoft.com/office/drawing/2014/main" id="{ABF1D00E-C4E5-5909-DFE8-5A2A20E4D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7336" y="504438"/>
            <a:ext cx="767484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Queries and Aggregations</a:t>
            </a:r>
            <a:endParaRPr lang="en-US" sz="2600" dirty="0"/>
          </a:p>
        </p:txBody>
      </p:sp>
      <p:sp>
        <p:nvSpPr>
          <p:cNvPr id="564" name="Google Shape;564;p31">
            <a:extLst>
              <a:ext uri="{FF2B5EF4-FFF2-40B4-BE49-F238E27FC236}">
                <a16:creationId xmlns:a16="http://schemas.microsoft.com/office/drawing/2014/main" id="{EE3BA0E4-7421-4E62-4D91-0DF67257AC27}"/>
              </a:ext>
            </a:extLst>
          </p:cNvPr>
          <p:cNvSpPr/>
          <p:nvPr/>
        </p:nvSpPr>
        <p:spPr>
          <a:xfrm rot="6382974">
            <a:off x="6641863" y="1928707"/>
            <a:ext cx="3362108" cy="2114453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6;p33">
            <a:extLst>
              <a:ext uri="{FF2B5EF4-FFF2-40B4-BE49-F238E27FC236}">
                <a16:creationId xmlns:a16="http://schemas.microsoft.com/office/drawing/2014/main" id="{7AD98B41-BEC8-94B8-26B3-0864A973CD9E}"/>
              </a:ext>
            </a:extLst>
          </p:cNvPr>
          <p:cNvSpPr txBox="1">
            <a:spLocks/>
          </p:cNvSpPr>
          <p:nvPr/>
        </p:nvSpPr>
        <p:spPr>
          <a:xfrm>
            <a:off x="476785" y="1142600"/>
            <a:ext cx="767484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</a:rPr>
              <a:t>A user joins a group: add the user's ID to the group's `members` array and the group's ID to the user's `groups` array</a:t>
            </a:r>
          </a:p>
        </p:txBody>
      </p:sp>
      <p:sp>
        <p:nvSpPr>
          <p:cNvPr id="11" name="Google Shape;586;p33">
            <a:extLst>
              <a:ext uri="{FF2B5EF4-FFF2-40B4-BE49-F238E27FC236}">
                <a16:creationId xmlns:a16="http://schemas.microsoft.com/office/drawing/2014/main" id="{492CE4D2-BB73-D19B-F313-4F73E1293832}"/>
              </a:ext>
            </a:extLst>
          </p:cNvPr>
          <p:cNvSpPr txBox="1">
            <a:spLocks/>
          </p:cNvSpPr>
          <p:nvPr/>
        </p:nvSpPr>
        <p:spPr>
          <a:xfrm>
            <a:off x="3111539" y="1622016"/>
            <a:ext cx="2405341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D1B843-A5E5-8763-FFBB-C85E636C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86" t="10641" r="6187" b="11093"/>
          <a:stretch>
            <a:fillRect/>
          </a:stretch>
        </p:blipFill>
        <p:spPr>
          <a:xfrm>
            <a:off x="2836416" y="1784572"/>
            <a:ext cx="5825769" cy="2869911"/>
          </a:xfrm>
          <a:prstGeom prst="roundRect">
            <a:avLst>
              <a:gd name="adj" fmla="val 947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55596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4980F6-7A40-5DEA-BCA3-B2CABAD1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Thank You </a:t>
            </a:r>
            <a:r>
              <a:rPr lang="en-US" sz="5400" dirty="0">
                <a:sym typeface="Wingdings" panose="05000000000000000000" pitchFamily="2" charset="2"/>
              </a:rPr>
              <a:t>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55373919"/>
      </p:ext>
    </p:extLst>
  </p:cSld>
  <p:clrMapOvr>
    <a:masterClrMapping/>
  </p:clrMapOvr>
</p:sld>
</file>

<file path=ppt/theme/theme1.xml><?xml version="1.0" encoding="utf-8"?>
<a:theme xmlns:a="http://schemas.openxmlformats.org/drawingml/2006/main" name="E-commerce Pitch Deck by Slidesgo">
  <a:themeElements>
    <a:clrScheme name="Simple Light">
      <a:dk1>
        <a:srgbClr val="191919"/>
      </a:dk1>
      <a:lt1>
        <a:srgbClr val="F3F3F3"/>
      </a:lt1>
      <a:dk2>
        <a:srgbClr val="FFFFFF"/>
      </a:dk2>
      <a:lt2>
        <a:srgbClr val="2F2FF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1641</Words>
  <Application>Microsoft Office PowerPoint</Application>
  <PresentationFormat>Affichage à l'écran (16:9)</PresentationFormat>
  <Paragraphs>403</Paragraphs>
  <Slides>103</Slides>
  <Notes>102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103</vt:i4>
      </vt:variant>
    </vt:vector>
  </HeadingPairs>
  <TitlesOfParts>
    <vt:vector size="107" baseType="lpstr">
      <vt:lpstr>Arial</vt:lpstr>
      <vt:lpstr>Anybody</vt:lpstr>
      <vt:lpstr>Wingdings</vt:lpstr>
      <vt:lpstr>E-commerce Pitch Deck by Slidesgo</vt:lpstr>
      <vt:lpstr> MySQL : Advanced E-Commerce Platform Backend  MongoDB : Advanced Social Media Platform Backend </vt:lpstr>
      <vt:lpstr>MySQL</vt:lpstr>
      <vt:lpstr>MySQL</vt:lpstr>
      <vt:lpstr>Database Creation</vt:lpstr>
      <vt:lpstr>Database Creation</vt:lpstr>
      <vt:lpstr>Creation of Tables</vt:lpstr>
      <vt:lpstr>Visual Representation of Tables and Their Relationships</vt:lpstr>
      <vt:lpstr>Creation of Tables</vt:lpstr>
      <vt:lpstr>Creation of Tables</vt:lpstr>
      <vt:lpstr>Creation of Tables</vt:lpstr>
      <vt:lpstr>Creation of Tables</vt:lpstr>
      <vt:lpstr>Creation of Tables</vt:lpstr>
      <vt:lpstr>Creation of Tables</vt:lpstr>
      <vt:lpstr>Creation of Tables</vt:lpstr>
      <vt:lpstr>Creation of Tables</vt:lpstr>
      <vt:lpstr>Creation of Tables</vt:lpstr>
      <vt:lpstr>Creation of Tables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Insertion</vt:lpstr>
      <vt:lpstr>Data Verification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 Verification</vt:lpstr>
      <vt:lpstr>Output:</vt:lpstr>
      <vt:lpstr>Database Modifications</vt:lpstr>
      <vt:lpstr>Database Modifications</vt:lpstr>
      <vt:lpstr>Database Modifications</vt:lpstr>
      <vt:lpstr>Database Modifications</vt:lpstr>
      <vt:lpstr>MongoDB</vt:lpstr>
      <vt:lpstr>Database &amp; Collection Setup</vt:lpstr>
      <vt:lpstr>Visual Representation of Tables and Their Relationships</vt:lpstr>
      <vt:lpstr>Creating the Database</vt:lpstr>
      <vt:lpstr>Inserting Base Data</vt:lpstr>
      <vt:lpstr>Inserting Base Data</vt:lpstr>
      <vt:lpstr>Inserting Base Data</vt:lpstr>
      <vt:lpstr>Data Insertion</vt:lpstr>
      <vt:lpstr>Insert additional users &amp; Create more groups  </vt:lpstr>
      <vt:lpstr>Insert additional users</vt:lpstr>
      <vt:lpstr>Create more groups  </vt:lpstr>
      <vt:lpstr>Build social graph  (followers/following)  </vt:lpstr>
      <vt:lpstr>Build social graph(followers/following)</vt:lpstr>
      <vt:lpstr>Build social graph(followers/following)</vt:lpstr>
      <vt:lpstr>Assign users to groups</vt:lpstr>
      <vt:lpstr>Assign users to groups</vt:lpstr>
      <vt:lpstr>Assign users to groups</vt:lpstr>
      <vt:lpstr>Create posts with engagement</vt:lpstr>
      <vt:lpstr>Create posts with engagement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Queries and Aggregations</vt:lpstr>
      <vt:lpstr>Data Modifications </vt:lpstr>
      <vt:lpstr>Queries and Aggregations</vt:lpstr>
      <vt:lpstr>Queries and Aggregations</vt:lpstr>
      <vt:lpstr>Queries and Aggregations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isfi abderrahmane</dc:creator>
  <cp:lastModifiedBy>isfi abderrahmane</cp:lastModifiedBy>
  <cp:revision>5</cp:revision>
  <dcterms:modified xsi:type="dcterms:W3CDTF">2025-10-16T17:19:13Z</dcterms:modified>
</cp:coreProperties>
</file>